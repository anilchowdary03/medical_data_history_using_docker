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5" r:id="rId30"/>
    <p:sldId id="286" r:id="rId31"/>
    <p:sldId id="287" r:id="rId32"/>
    <p:sldId id="288" r:id="rId33"/>
    <p:sldId id="289" r:id="rId34"/>
    <p:sldId id="290" r:id="rId35"/>
    <p:sldId id="291" r:id="rId36"/>
    <p:sldId id="29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6" d="100"/>
          <a:sy n="76" d="100"/>
        </p:scale>
        <p:origin x="77" y="3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E61A0-B763-C916-4970-0576478B42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B76E9AA-98AB-B57E-A7DF-76CA904568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574BDBE-8280-354F-E174-93D664D43270}"/>
              </a:ext>
            </a:extLst>
          </p:cNvPr>
          <p:cNvSpPr>
            <a:spLocks noGrp="1"/>
          </p:cNvSpPr>
          <p:nvPr>
            <p:ph type="dt" sz="half" idx="10"/>
          </p:nvPr>
        </p:nvSpPr>
        <p:spPr/>
        <p:txBody>
          <a:bodyPr/>
          <a:lstStyle/>
          <a:p>
            <a:fld id="{062D6C87-E8AD-4F8B-A094-705F3A61120E}" type="datetimeFigureOut">
              <a:rPr lang="en-IN" smtClean="0"/>
              <a:t>22-10-2025</a:t>
            </a:fld>
            <a:endParaRPr lang="en-IN"/>
          </a:p>
        </p:txBody>
      </p:sp>
      <p:sp>
        <p:nvSpPr>
          <p:cNvPr id="5" name="Footer Placeholder 4">
            <a:extLst>
              <a:ext uri="{FF2B5EF4-FFF2-40B4-BE49-F238E27FC236}">
                <a16:creationId xmlns:a16="http://schemas.microsoft.com/office/drawing/2014/main" id="{3111C2D6-E4B1-7625-C91B-CA3A9A91B1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9E6D58-07C6-0CDB-49FE-E97D5B3480F0}"/>
              </a:ext>
            </a:extLst>
          </p:cNvPr>
          <p:cNvSpPr>
            <a:spLocks noGrp="1"/>
          </p:cNvSpPr>
          <p:nvPr>
            <p:ph type="sldNum" sz="quarter" idx="12"/>
          </p:nvPr>
        </p:nvSpPr>
        <p:spPr/>
        <p:txBody>
          <a:bodyPr/>
          <a:lstStyle/>
          <a:p>
            <a:fld id="{E989CECC-F5B9-4DF6-BEE8-03037FB780C4}" type="slidenum">
              <a:rPr lang="en-IN" smtClean="0"/>
              <a:t>‹#›</a:t>
            </a:fld>
            <a:endParaRPr lang="en-IN"/>
          </a:p>
        </p:txBody>
      </p:sp>
    </p:spTree>
    <p:extLst>
      <p:ext uri="{BB962C8B-B14F-4D97-AF65-F5344CB8AC3E}">
        <p14:creationId xmlns:p14="http://schemas.microsoft.com/office/powerpoint/2010/main" val="266019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D6B5A-6475-A541-E984-C60EA15D0F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BF7311-F18F-27CA-9B5A-3AD5701B7C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F65F93-F6EE-532E-4C48-1229AC5054AC}"/>
              </a:ext>
            </a:extLst>
          </p:cNvPr>
          <p:cNvSpPr>
            <a:spLocks noGrp="1"/>
          </p:cNvSpPr>
          <p:nvPr>
            <p:ph type="dt" sz="half" idx="10"/>
          </p:nvPr>
        </p:nvSpPr>
        <p:spPr/>
        <p:txBody>
          <a:bodyPr/>
          <a:lstStyle/>
          <a:p>
            <a:fld id="{062D6C87-E8AD-4F8B-A094-705F3A61120E}" type="datetimeFigureOut">
              <a:rPr lang="en-IN" smtClean="0"/>
              <a:t>22-10-2025</a:t>
            </a:fld>
            <a:endParaRPr lang="en-IN"/>
          </a:p>
        </p:txBody>
      </p:sp>
      <p:sp>
        <p:nvSpPr>
          <p:cNvPr id="5" name="Footer Placeholder 4">
            <a:extLst>
              <a:ext uri="{FF2B5EF4-FFF2-40B4-BE49-F238E27FC236}">
                <a16:creationId xmlns:a16="http://schemas.microsoft.com/office/drawing/2014/main" id="{0103309E-D173-CBA0-A166-EE75E12AD4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905CD5-D70A-3882-61DA-2EEE2B27D139}"/>
              </a:ext>
            </a:extLst>
          </p:cNvPr>
          <p:cNvSpPr>
            <a:spLocks noGrp="1"/>
          </p:cNvSpPr>
          <p:nvPr>
            <p:ph type="sldNum" sz="quarter" idx="12"/>
          </p:nvPr>
        </p:nvSpPr>
        <p:spPr/>
        <p:txBody>
          <a:bodyPr/>
          <a:lstStyle/>
          <a:p>
            <a:fld id="{E989CECC-F5B9-4DF6-BEE8-03037FB780C4}" type="slidenum">
              <a:rPr lang="en-IN" smtClean="0"/>
              <a:t>‹#›</a:t>
            </a:fld>
            <a:endParaRPr lang="en-IN"/>
          </a:p>
        </p:txBody>
      </p:sp>
    </p:spTree>
    <p:extLst>
      <p:ext uri="{BB962C8B-B14F-4D97-AF65-F5344CB8AC3E}">
        <p14:creationId xmlns:p14="http://schemas.microsoft.com/office/powerpoint/2010/main" val="1730857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B2DFF-ED3F-433F-2A05-DC43CD57CC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F4B6377-7B5B-AF51-577A-2A7884CF10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AB87DE-5FC5-CBB1-FA11-64E29D1D1815}"/>
              </a:ext>
            </a:extLst>
          </p:cNvPr>
          <p:cNvSpPr>
            <a:spLocks noGrp="1"/>
          </p:cNvSpPr>
          <p:nvPr>
            <p:ph type="dt" sz="half" idx="10"/>
          </p:nvPr>
        </p:nvSpPr>
        <p:spPr/>
        <p:txBody>
          <a:bodyPr/>
          <a:lstStyle/>
          <a:p>
            <a:fld id="{062D6C87-E8AD-4F8B-A094-705F3A61120E}" type="datetimeFigureOut">
              <a:rPr lang="en-IN" smtClean="0"/>
              <a:t>22-10-2025</a:t>
            </a:fld>
            <a:endParaRPr lang="en-IN"/>
          </a:p>
        </p:txBody>
      </p:sp>
      <p:sp>
        <p:nvSpPr>
          <p:cNvPr id="5" name="Footer Placeholder 4">
            <a:extLst>
              <a:ext uri="{FF2B5EF4-FFF2-40B4-BE49-F238E27FC236}">
                <a16:creationId xmlns:a16="http://schemas.microsoft.com/office/drawing/2014/main" id="{D2829358-2812-AA6E-F72E-6BFD5F3238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267F17-E126-655A-6DB3-9192EF49E95E}"/>
              </a:ext>
            </a:extLst>
          </p:cNvPr>
          <p:cNvSpPr>
            <a:spLocks noGrp="1"/>
          </p:cNvSpPr>
          <p:nvPr>
            <p:ph type="sldNum" sz="quarter" idx="12"/>
          </p:nvPr>
        </p:nvSpPr>
        <p:spPr/>
        <p:txBody>
          <a:bodyPr/>
          <a:lstStyle/>
          <a:p>
            <a:fld id="{E989CECC-F5B9-4DF6-BEE8-03037FB780C4}" type="slidenum">
              <a:rPr lang="en-IN" smtClean="0"/>
              <a:t>‹#›</a:t>
            </a:fld>
            <a:endParaRPr lang="en-IN"/>
          </a:p>
        </p:txBody>
      </p:sp>
    </p:spTree>
    <p:extLst>
      <p:ext uri="{BB962C8B-B14F-4D97-AF65-F5344CB8AC3E}">
        <p14:creationId xmlns:p14="http://schemas.microsoft.com/office/powerpoint/2010/main" val="71143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AFD7B-2637-D02A-AB9A-72D4791466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AF9EE2-C0BF-D090-7014-07F8B7705D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F64F130-C723-AD23-660B-AEA88F90CB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99E4973-62CC-4FFE-7004-E2CCEBF37226}"/>
              </a:ext>
            </a:extLst>
          </p:cNvPr>
          <p:cNvSpPr>
            <a:spLocks noGrp="1"/>
          </p:cNvSpPr>
          <p:nvPr>
            <p:ph type="dt" sz="half" idx="10"/>
          </p:nvPr>
        </p:nvSpPr>
        <p:spPr/>
        <p:txBody>
          <a:bodyPr/>
          <a:lstStyle/>
          <a:p>
            <a:fld id="{062D6C87-E8AD-4F8B-A094-705F3A61120E}" type="datetimeFigureOut">
              <a:rPr lang="en-IN" smtClean="0"/>
              <a:t>22-10-2025</a:t>
            </a:fld>
            <a:endParaRPr lang="en-IN"/>
          </a:p>
        </p:txBody>
      </p:sp>
      <p:sp>
        <p:nvSpPr>
          <p:cNvPr id="6" name="Footer Placeholder 5">
            <a:extLst>
              <a:ext uri="{FF2B5EF4-FFF2-40B4-BE49-F238E27FC236}">
                <a16:creationId xmlns:a16="http://schemas.microsoft.com/office/drawing/2014/main" id="{AC9867A0-9D3C-C779-4968-1DE663DBC9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B7BBFF-41DE-0B37-8348-FE8CA3D40290}"/>
              </a:ext>
            </a:extLst>
          </p:cNvPr>
          <p:cNvSpPr>
            <a:spLocks noGrp="1"/>
          </p:cNvSpPr>
          <p:nvPr>
            <p:ph type="sldNum" sz="quarter" idx="12"/>
          </p:nvPr>
        </p:nvSpPr>
        <p:spPr/>
        <p:txBody>
          <a:bodyPr/>
          <a:lstStyle/>
          <a:p>
            <a:fld id="{E989CECC-F5B9-4DF6-BEE8-03037FB780C4}" type="slidenum">
              <a:rPr lang="en-IN" smtClean="0"/>
              <a:t>‹#›</a:t>
            </a:fld>
            <a:endParaRPr lang="en-IN"/>
          </a:p>
        </p:txBody>
      </p:sp>
    </p:spTree>
    <p:extLst>
      <p:ext uri="{BB962C8B-B14F-4D97-AF65-F5344CB8AC3E}">
        <p14:creationId xmlns:p14="http://schemas.microsoft.com/office/powerpoint/2010/main" val="1081597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7923B-BD18-4858-730D-F73E72B038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2CB59C0-AAF7-18CB-5A4A-0783457CFF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058C05-4843-2E0D-028F-5C12E91F9E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97CDD7-387F-F203-E477-0E30A9255D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EF0738-F809-8BAB-73CA-6EA779D1BE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6E22C1A-AC27-7B86-778B-8DFE1021B2C7}"/>
              </a:ext>
            </a:extLst>
          </p:cNvPr>
          <p:cNvSpPr>
            <a:spLocks noGrp="1"/>
          </p:cNvSpPr>
          <p:nvPr>
            <p:ph type="dt" sz="half" idx="10"/>
          </p:nvPr>
        </p:nvSpPr>
        <p:spPr/>
        <p:txBody>
          <a:bodyPr/>
          <a:lstStyle/>
          <a:p>
            <a:fld id="{062D6C87-E8AD-4F8B-A094-705F3A61120E}" type="datetimeFigureOut">
              <a:rPr lang="en-IN" smtClean="0"/>
              <a:t>22-10-2025</a:t>
            </a:fld>
            <a:endParaRPr lang="en-IN"/>
          </a:p>
        </p:txBody>
      </p:sp>
      <p:sp>
        <p:nvSpPr>
          <p:cNvPr id="8" name="Footer Placeholder 7">
            <a:extLst>
              <a:ext uri="{FF2B5EF4-FFF2-40B4-BE49-F238E27FC236}">
                <a16:creationId xmlns:a16="http://schemas.microsoft.com/office/drawing/2014/main" id="{B7922EE8-C59C-2C3B-C2A5-833D12D2ED8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3AC45A5-0F1D-D7E7-1D57-277ECF5FBABD}"/>
              </a:ext>
            </a:extLst>
          </p:cNvPr>
          <p:cNvSpPr>
            <a:spLocks noGrp="1"/>
          </p:cNvSpPr>
          <p:nvPr>
            <p:ph type="sldNum" sz="quarter" idx="12"/>
          </p:nvPr>
        </p:nvSpPr>
        <p:spPr/>
        <p:txBody>
          <a:bodyPr/>
          <a:lstStyle/>
          <a:p>
            <a:fld id="{E989CECC-F5B9-4DF6-BEE8-03037FB780C4}" type="slidenum">
              <a:rPr lang="en-IN" smtClean="0"/>
              <a:t>‹#›</a:t>
            </a:fld>
            <a:endParaRPr lang="en-IN"/>
          </a:p>
        </p:txBody>
      </p:sp>
    </p:spTree>
    <p:extLst>
      <p:ext uri="{BB962C8B-B14F-4D97-AF65-F5344CB8AC3E}">
        <p14:creationId xmlns:p14="http://schemas.microsoft.com/office/powerpoint/2010/main" val="585164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C5F90-52BD-28FA-420D-65DCD5D4584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71079A5-B704-88BB-AF1D-8F235882F61F}"/>
              </a:ext>
            </a:extLst>
          </p:cNvPr>
          <p:cNvSpPr>
            <a:spLocks noGrp="1"/>
          </p:cNvSpPr>
          <p:nvPr>
            <p:ph type="dt" sz="half" idx="10"/>
          </p:nvPr>
        </p:nvSpPr>
        <p:spPr/>
        <p:txBody>
          <a:bodyPr/>
          <a:lstStyle/>
          <a:p>
            <a:fld id="{062D6C87-E8AD-4F8B-A094-705F3A61120E}" type="datetimeFigureOut">
              <a:rPr lang="en-IN" smtClean="0"/>
              <a:t>22-10-2025</a:t>
            </a:fld>
            <a:endParaRPr lang="en-IN"/>
          </a:p>
        </p:txBody>
      </p:sp>
      <p:sp>
        <p:nvSpPr>
          <p:cNvPr id="4" name="Footer Placeholder 3">
            <a:extLst>
              <a:ext uri="{FF2B5EF4-FFF2-40B4-BE49-F238E27FC236}">
                <a16:creationId xmlns:a16="http://schemas.microsoft.com/office/drawing/2014/main" id="{93A658CE-D2D1-25C4-4E3F-47770453E4B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A1C71BE-F364-84C9-416E-85B224E5CA7E}"/>
              </a:ext>
            </a:extLst>
          </p:cNvPr>
          <p:cNvSpPr>
            <a:spLocks noGrp="1"/>
          </p:cNvSpPr>
          <p:nvPr>
            <p:ph type="sldNum" sz="quarter" idx="12"/>
          </p:nvPr>
        </p:nvSpPr>
        <p:spPr/>
        <p:txBody>
          <a:bodyPr/>
          <a:lstStyle/>
          <a:p>
            <a:fld id="{E989CECC-F5B9-4DF6-BEE8-03037FB780C4}" type="slidenum">
              <a:rPr lang="en-IN" smtClean="0"/>
              <a:t>‹#›</a:t>
            </a:fld>
            <a:endParaRPr lang="en-IN"/>
          </a:p>
        </p:txBody>
      </p:sp>
    </p:spTree>
    <p:extLst>
      <p:ext uri="{BB962C8B-B14F-4D97-AF65-F5344CB8AC3E}">
        <p14:creationId xmlns:p14="http://schemas.microsoft.com/office/powerpoint/2010/main" val="2517456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85605B-8CDC-CA69-4DBE-E3D57A54961D}"/>
              </a:ext>
            </a:extLst>
          </p:cNvPr>
          <p:cNvSpPr>
            <a:spLocks noGrp="1"/>
          </p:cNvSpPr>
          <p:nvPr>
            <p:ph type="dt" sz="half" idx="10"/>
          </p:nvPr>
        </p:nvSpPr>
        <p:spPr/>
        <p:txBody>
          <a:bodyPr/>
          <a:lstStyle/>
          <a:p>
            <a:fld id="{062D6C87-E8AD-4F8B-A094-705F3A61120E}" type="datetimeFigureOut">
              <a:rPr lang="en-IN" smtClean="0"/>
              <a:t>22-10-2025</a:t>
            </a:fld>
            <a:endParaRPr lang="en-IN"/>
          </a:p>
        </p:txBody>
      </p:sp>
      <p:sp>
        <p:nvSpPr>
          <p:cNvPr id="3" name="Footer Placeholder 2">
            <a:extLst>
              <a:ext uri="{FF2B5EF4-FFF2-40B4-BE49-F238E27FC236}">
                <a16:creationId xmlns:a16="http://schemas.microsoft.com/office/drawing/2014/main" id="{41A877B5-B3CA-8270-AEAE-F2A5E3708AB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4EF1A73-5E69-F831-95C8-129273D89BA9}"/>
              </a:ext>
            </a:extLst>
          </p:cNvPr>
          <p:cNvSpPr>
            <a:spLocks noGrp="1"/>
          </p:cNvSpPr>
          <p:nvPr>
            <p:ph type="sldNum" sz="quarter" idx="12"/>
          </p:nvPr>
        </p:nvSpPr>
        <p:spPr/>
        <p:txBody>
          <a:bodyPr/>
          <a:lstStyle/>
          <a:p>
            <a:fld id="{E989CECC-F5B9-4DF6-BEE8-03037FB780C4}" type="slidenum">
              <a:rPr lang="en-IN" smtClean="0"/>
              <a:t>‹#›</a:t>
            </a:fld>
            <a:endParaRPr lang="en-IN"/>
          </a:p>
        </p:txBody>
      </p:sp>
    </p:spTree>
    <p:extLst>
      <p:ext uri="{BB962C8B-B14F-4D97-AF65-F5344CB8AC3E}">
        <p14:creationId xmlns:p14="http://schemas.microsoft.com/office/powerpoint/2010/main" val="3837038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D5A9C-72EB-3D48-1536-F3CEA7CFF3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D8F6233-4D07-3EE1-7B08-8DD2448711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9625FAE-4BC3-A660-E2A4-71063D73FF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2A9A26-3968-8AC7-EC99-E4EBEBA8A5A0}"/>
              </a:ext>
            </a:extLst>
          </p:cNvPr>
          <p:cNvSpPr>
            <a:spLocks noGrp="1"/>
          </p:cNvSpPr>
          <p:nvPr>
            <p:ph type="dt" sz="half" idx="10"/>
          </p:nvPr>
        </p:nvSpPr>
        <p:spPr/>
        <p:txBody>
          <a:bodyPr/>
          <a:lstStyle/>
          <a:p>
            <a:fld id="{062D6C87-E8AD-4F8B-A094-705F3A61120E}" type="datetimeFigureOut">
              <a:rPr lang="en-IN" smtClean="0"/>
              <a:t>22-10-2025</a:t>
            </a:fld>
            <a:endParaRPr lang="en-IN"/>
          </a:p>
        </p:txBody>
      </p:sp>
      <p:sp>
        <p:nvSpPr>
          <p:cNvPr id="6" name="Footer Placeholder 5">
            <a:extLst>
              <a:ext uri="{FF2B5EF4-FFF2-40B4-BE49-F238E27FC236}">
                <a16:creationId xmlns:a16="http://schemas.microsoft.com/office/drawing/2014/main" id="{0C64A2EA-E3B7-AD95-44E8-FEE836274F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7ED807-2D6C-2513-BC58-0F9DD5EF2AC9}"/>
              </a:ext>
            </a:extLst>
          </p:cNvPr>
          <p:cNvSpPr>
            <a:spLocks noGrp="1"/>
          </p:cNvSpPr>
          <p:nvPr>
            <p:ph type="sldNum" sz="quarter" idx="12"/>
          </p:nvPr>
        </p:nvSpPr>
        <p:spPr/>
        <p:txBody>
          <a:bodyPr/>
          <a:lstStyle/>
          <a:p>
            <a:fld id="{E989CECC-F5B9-4DF6-BEE8-03037FB780C4}" type="slidenum">
              <a:rPr lang="en-IN" smtClean="0"/>
              <a:t>‹#›</a:t>
            </a:fld>
            <a:endParaRPr lang="en-IN"/>
          </a:p>
        </p:txBody>
      </p:sp>
    </p:spTree>
    <p:extLst>
      <p:ext uri="{BB962C8B-B14F-4D97-AF65-F5344CB8AC3E}">
        <p14:creationId xmlns:p14="http://schemas.microsoft.com/office/powerpoint/2010/main" val="97648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C146E-2352-8CC4-3428-D4B9B407C6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D8D61DD-DD26-52F9-51CA-F51E92EAA7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8B34935-3625-0488-6006-74106AAF2C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ED9146-C362-1CF2-967C-01D48099038F}"/>
              </a:ext>
            </a:extLst>
          </p:cNvPr>
          <p:cNvSpPr>
            <a:spLocks noGrp="1"/>
          </p:cNvSpPr>
          <p:nvPr>
            <p:ph type="dt" sz="half" idx="10"/>
          </p:nvPr>
        </p:nvSpPr>
        <p:spPr/>
        <p:txBody>
          <a:bodyPr/>
          <a:lstStyle/>
          <a:p>
            <a:fld id="{062D6C87-E8AD-4F8B-A094-705F3A61120E}" type="datetimeFigureOut">
              <a:rPr lang="en-IN" smtClean="0"/>
              <a:t>22-10-2025</a:t>
            </a:fld>
            <a:endParaRPr lang="en-IN"/>
          </a:p>
        </p:txBody>
      </p:sp>
      <p:sp>
        <p:nvSpPr>
          <p:cNvPr id="6" name="Footer Placeholder 5">
            <a:extLst>
              <a:ext uri="{FF2B5EF4-FFF2-40B4-BE49-F238E27FC236}">
                <a16:creationId xmlns:a16="http://schemas.microsoft.com/office/drawing/2014/main" id="{C4AF5C2B-0948-656B-1496-E9398F08A9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172427-9071-273A-E606-57FD37008842}"/>
              </a:ext>
            </a:extLst>
          </p:cNvPr>
          <p:cNvSpPr>
            <a:spLocks noGrp="1"/>
          </p:cNvSpPr>
          <p:nvPr>
            <p:ph type="sldNum" sz="quarter" idx="12"/>
          </p:nvPr>
        </p:nvSpPr>
        <p:spPr/>
        <p:txBody>
          <a:bodyPr/>
          <a:lstStyle/>
          <a:p>
            <a:fld id="{E989CECC-F5B9-4DF6-BEE8-03037FB780C4}" type="slidenum">
              <a:rPr lang="en-IN" smtClean="0"/>
              <a:t>‹#›</a:t>
            </a:fld>
            <a:endParaRPr lang="en-IN"/>
          </a:p>
        </p:txBody>
      </p:sp>
    </p:spTree>
    <p:extLst>
      <p:ext uri="{BB962C8B-B14F-4D97-AF65-F5344CB8AC3E}">
        <p14:creationId xmlns:p14="http://schemas.microsoft.com/office/powerpoint/2010/main" val="2749220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9F8E3-8DAD-ED9F-F9C5-9E97CF7C7DA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D66AA9-EAEF-022C-AB7F-2697B34424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05EA1F-DA71-F18F-A267-A0AF13B9D7B4}"/>
              </a:ext>
            </a:extLst>
          </p:cNvPr>
          <p:cNvSpPr>
            <a:spLocks noGrp="1"/>
          </p:cNvSpPr>
          <p:nvPr>
            <p:ph type="dt" sz="half" idx="10"/>
          </p:nvPr>
        </p:nvSpPr>
        <p:spPr/>
        <p:txBody>
          <a:bodyPr/>
          <a:lstStyle/>
          <a:p>
            <a:fld id="{062D6C87-E8AD-4F8B-A094-705F3A61120E}" type="datetimeFigureOut">
              <a:rPr lang="en-IN" smtClean="0"/>
              <a:t>22-10-2025</a:t>
            </a:fld>
            <a:endParaRPr lang="en-IN"/>
          </a:p>
        </p:txBody>
      </p:sp>
      <p:sp>
        <p:nvSpPr>
          <p:cNvPr id="5" name="Footer Placeholder 4">
            <a:extLst>
              <a:ext uri="{FF2B5EF4-FFF2-40B4-BE49-F238E27FC236}">
                <a16:creationId xmlns:a16="http://schemas.microsoft.com/office/drawing/2014/main" id="{9B711B82-1EE4-D871-6C9C-C8654AE8C4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FD155E-C20B-90D1-BFEF-FD09159A9215}"/>
              </a:ext>
            </a:extLst>
          </p:cNvPr>
          <p:cNvSpPr>
            <a:spLocks noGrp="1"/>
          </p:cNvSpPr>
          <p:nvPr>
            <p:ph type="sldNum" sz="quarter" idx="12"/>
          </p:nvPr>
        </p:nvSpPr>
        <p:spPr/>
        <p:txBody>
          <a:bodyPr/>
          <a:lstStyle/>
          <a:p>
            <a:fld id="{E989CECC-F5B9-4DF6-BEE8-03037FB780C4}" type="slidenum">
              <a:rPr lang="en-IN" smtClean="0"/>
              <a:t>‹#›</a:t>
            </a:fld>
            <a:endParaRPr lang="en-IN"/>
          </a:p>
        </p:txBody>
      </p:sp>
    </p:spTree>
    <p:extLst>
      <p:ext uri="{BB962C8B-B14F-4D97-AF65-F5344CB8AC3E}">
        <p14:creationId xmlns:p14="http://schemas.microsoft.com/office/powerpoint/2010/main" val="1359083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1E31B8-6776-F0B7-D7AC-71CFBD125D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80128C-F817-6995-7E7B-1D671C6B05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7DB993-5726-79A0-914E-5357596A6B14}"/>
              </a:ext>
            </a:extLst>
          </p:cNvPr>
          <p:cNvSpPr>
            <a:spLocks noGrp="1"/>
          </p:cNvSpPr>
          <p:nvPr>
            <p:ph type="dt" sz="half" idx="10"/>
          </p:nvPr>
        </p:nvSpPr>
        <p:spPr/>
        <p:txBody>
          <a:bodyPr/>
          <a:lstStyle/>
          <a:p>
            <a:fld id="{062D6C87-E8AD-4F8B-A094-705F3A61120E}" type="datetimeFigureOut">
              <a:rPr lang="en-IN" smtClean="0"/>
              <a:t>22-10-2025</a:t>
            </a:fld>
            <a:endParaRPr lang="en-IN"/>
          </a:p>
        </p:txBody>
      </p:sp>
      <p:sp>
        <p:nvSpPr>
          <p:cNvPr id="5" name="Footer Placeholder 4">
            <a:extLst>
              <a:ext uri="{FF2B5EF4-FFF2-40B4-BE49-F238E27FC236}">
                <a16:creationId xmlns:a16="http://schemas.microsoft.com/office/drawing/2014/main" id="{363188B7-A4DE-247D-0060-4218E5DC11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19047F-97E6-8EDB-71D2-64BEBE0709D8}"/>
              </a:ext>
            </a:extLst>
          </p:cNvPr>
          <p:cNvSpPr>
            <a:spLocks noGrp="1"/>
          </p:cNvSpPr>
          <p:nvPr>
            <p:ph type="sldNum" sz="quarter" idx="12"/>
          </p:nvPr>
        </p:nvSpPr>
        <p:spPr/>
        <p:txBody>
          <a:bodyPr/>
          <a:lstStyle/>
          <a:p>
            <a:fld id="{E989CECC-F5B9-4DF6-BEE8-03037FB780C4}" type="slidenum">
              <a:rPr lang="en-IN" smtClean="0"/>
              <a:t>‹#›</a:t>
            </a:fld>
            <a:endParaRPr lang="en-IN"/>
          </a:p>
        </p:txBody>
      </p:sp>
    </p:spTree>
    <p:extLst>
      <p:ext uri="{BB962C8B-B14F-4D97-AF65-F5344CB8AC3E}">
        <p14:creationId xmlns:p14="http://schemas.microsoft.com/office/powerpoint/2010/main" val="2204708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7937F6-8724-5E26-8101-6C1D7D7D6D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75FD74-C717-5A12-D4A2-B65B35290D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41736E-5919-0474-12F1-A95D47B22F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2D6C87-E8AD-4F8B-A094-705F3A61120E}" type="datetimeFigureOut">
              <a:rPr lang="en-IN" smtClean="0"/>
              <a:t>22-10-2025</a:t>
            </a:fld>
            <a:endParaRPr lang="en-IN"/>
          </a:p>
        </p:txBody>
      </p:sp>
      <p:sp>
        <p:nvSpPr>
          <p:cNvPr id="5" name="Footer Placeholder 4">
            <a:extLst>
              <a:ext uri="{FF2B5EF4-FFF2-40B4-BE49-F238E27FC236}">
                <a16:creationId xmlns:a16="http://schemas.microsoft.com/office/drawing/2014/main" id="{532BD762-694D-8E61-70F0-751CDB061B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FA28C57-B0DE-372B-7A01-950EBEBDF3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89CECC-F5B9-4DF6-BEE8-03037FB780C4}" type="slidenum">
              <a:rPr lang="en-IN" smtClean="0"/>
              <a:t>‹#›</a:t>
            </a:fld>
            <a:endParaRPr lang="en-IN"/>
          </a:p>
        </p:txBody>
      </p:sp>
    </p:spTree>
    <p:extLst>
      <p:ext uri="{BB962C8B-B14F-4D97-AF65-F5344CB8AC3E}">
        <p14:creationId xmlns:p14="http://schemas.microsoft.com/office/powerpoint/2010/main" val="851972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8B003-468A-794C-1D9B-7D577E600D4C}"/>
              </a:ext>
            </a:extLst>
          </p:cNvPr>
          <p:cNvSpPr>
            <a:spLocks noGrp="1"/>
          </p:cNvSpPr>
          <p:nvPr>
            <p:ph type="ctrTitle"/>
          </p:nvPr>
        </p:nvSpPr>
        <p:spPr>
          <a:xfrm>
            <a:off x="1524000" y="1122363"/>
            <a:ext cx="9144000" cy="1982578"/>
          </a:xfrm>
        </p:spPr>
        <p:txBody>
          <a:bodyPr/>
          <a:lstStyle/>
          <a:p>
            <a:r>
              <a:rPr lang="en-IN" b="1" dirty="0"/>
              <a:t>PRCE-001 </a:t>
            </a:r>
            <a:br>
              <a:rPr lang="en-IN" b="1" dirty="0"/>
            </a:br>
            <a:r>
              <a:rPr lang="en-IN" b="1" dirty="0"/>
              <a:t>Medical Data History</a:t>
            </a:r>
          </a:p>
        </p:txBody>
      </p:sp>
      <p:sp>
        <p:nvSpPr>
          <p:cNvPr id="3" name="Subtitle 2">
            <a:extLst>
              <a:ext uri="{FF2B5EF4-FFF2-40B4-BE49-F238E27FC236}">
                <a16:creationId xmlns:a16="http://schemas.microsoft.com/office/drawing/2014/main" id="{6978D06B-B593-FD30-38B0-A5853514E170}"/>
              </a:ext>
            </a:extLst>
          </p:cNvPr>
          <p:cNvSpPr>
            <a:spLocks noGrp="1"/>
          </p:cNvSpPr>
          <p:nvPr>
            <p:ph type="subTitle" idx="1"/>
          </p:nvPr>
        </p:nvSpPr>
        <p:spPr>
          <a:xfrm>
            <a:off x="1524000" y="3275222"/>
            <a:ext cx="9144000" cy="1982578"/>
          </a:xfrm>
        </p:spPr>
        <p:txBody>
          <a:bodyPr>
            <a:normAutofit/>
          </a:bodyPr>
          <a:lstStyle/>
          <a:p>
            <a:r>
              <a:rPr lang="en-US" sz="3600" b="1" u="sng" dirty="0"/>
              <a:t>Results and Outputs of SQL Problem Statements</a:t>
            </a:r>
          </a:p>
          <a:p>
            <a:r>
              <a:rPr lang="en-IN" sz="3600" b="1" dirty="0"/>
              <a:t>Prepared by: </a:t>
            </a:r>
            <a:r>
              <a:rPr lang="en-IN" sz="3600" dirty="0"/>
              <a:t>Anil Kumar</a:t>
            </a:r>
          </a:p>
          <a:p>
            <a:endParaRPr lang="en-IN" sz="3600" dirty="0"/>
          </a:p>
        </p:txBody>
      </p:sp>
    </p:spTree>
    <p:extLst>
      <p:ext uri="{BB962C8B-B14F-4D97-AF65-F5344CB8AC3E}">
        <p14:creationId xmlns:p14="http://schemas.microsoft.com/office/powerpoint/2010/main" val="1047814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BD844-A97B-0B73-EE2E-3F1596EED3CC}"/>
              </a:ext>
            </a:extLst>
          </p:cNvPr>
          <p:cNvSpPr>
            <a:spLocks noGrp="1"/>
          </p:cNvSpPr>
          <p:nvPr>
            <p:ph type="title"/>
          </p:nvPr>
        </p:nvSpPr>
        <p:spPr/>
        <p:txBody>
          <a:bodyPr>
            <a:normAutofit/>
          </a:bodyPr>
          <a:lstStyle/>
          <a:p>
            <a:r>
              <a:rPr lang="en-US" sz="3200" dirty="0"/>
              <a:t>1. Show first name, last name, and gender of patients whose </a:t>
            </a:r>
            <a:br>
              <a:rPr lang="en-US" sz="3200" dirty="0"/>
            </a:br>
            <a:r>
              <a:rPr lang="en-US" sz="3200" dirty="0"/>
              <a:t>     gender is 'M'</a:t>
            </a:r>
            <a:endParaRPr lang="en-IN" sz="3200" dirty="0"/>
          </a:p>
        </p:txBody>
      </p:sp>
      <p:pic>
        <p:nvPicPr>
          <p:cNvPr id="5" name="Content Placeholder 4" descr="A screenshot of a computer&#10;&#10;AI-generated content may be incorrect.">
            <a:extLst>
              <a:ext uri="{FF2B5EF4-FFF2-40B4-BE49-F238E27FC236}">
                <a16:creationId xmlns:a16="http://schemas.microsoft.com/office/drawing/2014/main" id="{5BBE0FE5-49C7-B568-08B8-4989B9B62A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10154" y="1577592"/>
            <a:ext cx="7747279" cy="4994030"/>
          </a:xfrm>
        </p:spPr>
      </p:pic>
    </p:spTree>
    <p:extLst>
      <p:ext uri="{BB962C8B-B14F-4D97-AF65-F5344CB8AC3E}">
        <p14:creationId xmlns:p14="http://schemas.microsoft.com/office/powerpoint/2010/main" val="3918268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83617-B6E3-5F9F-01BF-43BF243E4EF5}"/>
              </a:ext>
            </a:extLst>
          </p:cNvPr>
          <p:cNvSpPr>
            <a:spLocks noGrp="1"/>
          </p:cNvSpPr>
          <p:nvPr>
            <p:ph type="title"/>
          </p:nvPr>
        </p:nvSpPr>
        <p:spPr/>
        <p:txBody>
          <a:bodyPr>
            <a:normAutofit/>
          </a:bodyPr>
          <a:lstStyle/>
          <a:p>
            <a:r>
              <a:rPr lang="en-US" sz="3200" dirty="0"/>
              <a:t>2. Show first name and last name of patients who do not have</a:t>
            </a:r>
            <a:br>
              <a:rPr lang="en-US" sz="3200" dirty="0"/>
            </a:br>
            <a:r>
              <a:rPr lang="en-US" sz="3200" dirty="0"/>
              <a:t>     allergies. </a:t>
            </a:r>
            <a:endParaRPr lang="en-IN" sz="3200" dirty="0"/>
          </a:p>
        </p:txBody>
      </p:sp>
      <p:pic>
        <p:nvPicPr>
          <p:cNvPr id="5" name="Content Placeholder 4" descr="A screenshot of a computer screen&#10;&#10;AI-generated content may be incorrect.">
            <a:extLst>
              <a:ext uri="{FF2B5EF4-FFF2-40B4-BE49-F238E27FC236}">
                <a16:creationId xmlns:a16="http://schemas.microsoft.com/office/drawing/2014/main" id="{79DD0A3D-525A-205F-6C2A-8FF531839F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80009" y="1537398"/>
            <a:ext cx="7345345" cy="4732773"/>
          </a:xfrm>
        </p:spPr>
      </p:pic>
    </p:spTree>
    <p:extLst>
      <p:ext uri="{BB962C8B-B14F-4D97-AF65-F5344CB8AC3E}">
        <p14:creationId xmlns:p14="http://schemas.microsoft.com/office/powerpoint/2010/main" val="2758794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F21E7-E983-0C13-A996-F17C3E7A803A}"/>
              </a:ext>
            </a:extLst>
          </p:cNvPr>
          <p:cNvSpPr>
            <a:spLocks noGrp="1"/>
          </p:cNvSpPr>
          <p:nvPr>
            <p:ph type="title"/>
          </p:nvPr>
        </p:nvSpPr>
        <p:spPr/>
        <p:txBody>
          <a:bodyPr>
            <a:normAutofit/>
          </a:bodyPr>
          <a:lstStyle/>
          <a:p>
            <a:r>
              <a:rPr lang="en-US" sz="3200" dirty="0"/>
              <a:t>3. Show first name of patients that start with the letter 'C'</a:t>
            </a:r>
            <a:endParaRPr lang="en-IN" sz="3200" dirty="0"/>
          </a:p>
        </p:txBody>
      </p:sp>
      <p:pic>
        <p:nvPicPr>
          <p:cNvPr id="5" name="Content Placeholder 4" descr="A screenshot of a computer&#10;&#10;AI-generated content may be incorrect.">
            <a:extLst>
              <a:ext uri="{FF2B5EF4-FFF2-40B4-BE49-F238E27FC236}">
                <a16:creationId xmlns:a16="http://schemas.microsoft.com/office/drawing/2014/main" id="{82954545-5CDF-49ED-D24B-99AA5442D5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2088" y="1825625"/>
            <a:ext cx="6109398" cy="4351338"/>
          </a:xfrm>
        </p:spPr>
      </p:pic>
    </p:spTree>
    <p:extLst>
      <p:ext uri="{BB962C8B-B14F-4D97-AF65-F5344CB8AC3E}">
        <p14:creationId xmlns:p14="http://schemas.microsoft.com/office/powerpoint/2010/main" val="2772066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AB0B5-0045-B973-F4AB-F6AA95D7B37F}"/>
              </a:ext>
            </a:extLst>
          </p:cNvPr>
          <p:cNvSpPr>
            <a:spLocks noGrp="1"/>
          </p:cNvSpPr>
          <p:nvPr>
            <p:ph type="title"/>
          </p:nvPr>
        </p:nvSpPr>
        <p:spPr/>
        <p:txBody>
          <a:bodyPr>
            <a:normAutofit/>
          </a:bodyPr>
          <a:lstStyle/>
          <a:p>
            <a:r>
              <a:rPr lang="en-US" sz="3200" dirty="0"/>
              <a:t>4. Show first name and last name of patients that weight within   </a:t>
            </a:r>
            <a:br>
              <a:rPr lang="en-US" sz="3200" dirty="0"/>
            </a:br>
            <a:r>
              <a:rPr lang="en-US" sz="3200" dirty="0"/>
              <a:t>     the range of 100 to 120 (inclusive) </a:t>
            </a:r>
            <a:endParaRPr lang="en-IN" sz="3200" dirty="0"/>
          </a:p>
        </p:txBody>
      </p:sp>
      <p:pic>
        <p:nvPicPr>
          <p:cNvPr id="5" name="Content Placeholder 4" descr="A screenshot of a computer screen&#10;&#10;AI-generated content may be incorrect.">
            <a:extLst>
              <a:ext uri="{FF2B5EF4-FFF2-40B4-BE49-F238E27FC236}">
                <a16:creationId xmlns:a16="http://schemas.microsoft.com/office/drawing/2014/main" id="{B8DF0DCF-DC56-07F7-4450-865C0117E2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38365" y="1507252"/>
            <a:ext cx="7224765" cy="4903595"/>
          </a:xfrm>
        </p:spPr>
      </p:pic>
    </p:spTree>
    <p:extLst>
      <p:ext uri="{BB962C8B-B14F-4D97-AF65-F5344CB8AC3E}">
        <p14:creationId xmlns:p14="http://schemas.microsoft.com/office/powerpoint/2010/main" val="3726093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0DFE6-C0B9-3587-735B-2EEF2F9B0814}"/>
              </a:ext>
            </a:extLst>
          </p:cNvPr>
          <p:cNvSpPr>
            <a:spLocks noGrp="1"/>
          </p:cNvSpPr>
          <p:nvPr>
            <p:ph type="title"/>
          </p:nvPr>
        </p:nvSpPr>
        <p:spPr/>
        <p:txBody>
          <a:bodyPr>
            <a:normAutofit/>
          </a:bodyPr>
          <a:lstStyle/>
          <a:p>
            <a:r>
              <a:rPr lang="en-US" sz="3200" dirty="0"/>
              <a:t>5. Update the patients table for the allergies column. If the </a:t>
            </a:r>
            <a:br>
              <a:rPr lang="en-US" sz="3200" dirty="0"/>
            </a:br>
            <a:r>
              <a:rPr lang="en-US" sz="3200" dirty="0"/>
              <a:t>     patient's allergies is null then replace it with 'NKA'</a:t>
            </a:r>
            <a:endParaRPr lang="en-IN" sz="3200" dirty="0"/>
          </a:p>
        </p:txBody>
      </p:sp>
      <p:pic>
        <p:nvPicPr>
          <p:cNvPr id="5" name="Content Placeholder 4" descr="A screenshot of a computer&#10;&#10;AI-generated content may be incorrect.">
            <a:extLst>
              <a:ext uri="{FF2B5EF4-FFF2-40B4-BE49-F238E27FC236}">
                <a16:creationId xmlns:a16="http://schemas.microsoft.com/office/drawing/2014/main" id="{24114B8B-07EC-926E-2FFA-FA3A913C9A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5802" y="1858944"/>
            <a:ext cx="9535886" cy="3908809"/>
          </a:xfrm>
        </p:spPr>
      </p:pic>
    </p:spTree>
    <p:extLst>
      <p:ext uri="{BB962C8B-B14F-4D97-AF65-F5344CB8AC3E}">
        <p14:creationId xmlns:p14="http://schemas.microsoft.com/office/powerpoint/2010/main" val="3696783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0DE3F-CA1F-2E55-41B6-E4F517388002}"/>
              </a:ext>
            </a:extLst>
          </p:cNvPr>
          <p:cNvSpPr>
            <a:spLocks noGrp="1"/>
          </p:cNvSpPr>
          <p:nvPr>
            <p:ph type="title"/>
          </p:nvPr>
        </p:nvSpPr>
        <p:spPr/>
        <p:txBody>
          <a:bodyPr>
            <a:normAutofit/>
          </a:bodyPr>
          <a:lstStyle/>
          <a:p>
            <a:r>
              <a:rPr lang="en-US" sz="3200" dirty="0"/>
              <a:t>6. Show first name and last name concatenated into one</a:t>
            </a:r>
            <a:br>
              <a:rPr lang="en-US" sz="3200" dirty="0"/>
            </a:br>
            <a:r>
              <a:rPr lang="en-US" sz="3200" dirty="0"/>
              <a:t>     column to show their full name.</a:t>
            </a:r>
            <a:endParaRPr lang="en-IN" sz="3200" dirty="0"/>
          </a:p>
        </p:txBody>
      </p:sp>
      <p:pic>
        <p:nvPicPr>
          <p:cNvPr id="5" name="Content Placeholder 4" descr="A screenshot of a computer&#10;&#10;AI-generated content may be incorrect.">
            <a:extLst>
              <a:ext uri="{FF2B5EF4-FFF2-40B4-BE49-F238E27FC236}">
                <a16:creationId xmlns:a16="http://schemas.microsoft.com/office/drawing/2014/main" id="{D9B26265-62F9-6719-6FDB-CD3BCC8FC83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8461" y="1690688"/>
            <a:ext cx="4337539" cy="4802187"/>
          </a:xfrm>
        </p:spPr>
      </p:pic>
    </p:spTree>
    <p:extLst>
      <p:ext uri="{BB962C8B-B14F-4D97-AF65-F5344CB8AC3E}">
        <p14:creationId xmlns:p14="http://schemas.microsoft.com/office/powerpoint/2010/main" val="297428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99E8A-3191-AD43-BB0E-4CA29608F931}"/>
              </a:ext>
            </a:extLst>
          </p:cNvPr>
          <p:cNvSpPr>
            <a:spLocks noGrp="1"/>
          </p:cNvSpPr>
          <p:nvPr>
            <p:ph type="title"/>
          </p:nvPr>
        </p:nvSpPr>
        <p:spPr/>
        <p:txBody>
          <a:bodyPr>
            <a:normAutofit/>
          </a:bodyPr>
          <a:lstStyle/>
          <a:p>
            <a:r>
              <a:rPr lang="en-US" sz="3200" dirty="0"/>
              <a:t>7. Show first name, last name, and the full province name of</a:t>
            </a:r>
            <a:br>
              <a:rPr lang="en-US" sz="3200" dirty="0"/>
            </a:br>
            <a:r>
              <a:rPr lang="en-US" sz="3200" dirty="0"/>
              <a:t>     each patient.</a:t>
            </a:r>
            <a:endParaRPr lang="en-IN" sz="3200" dirty="0"/>
          </a:p>
        </p:txBody>
      </p:sp>
      <p:pic>
        <p:nvPicPr>
          <p:cNvPr id="5" name="Content Placeholder 4" descr="A screenshot of a computer screen&#10;&#10;AI-generated content may be incorrect.">
            <a:extLst>
              <a:ext uri="{FF2B5EF4-FFF2-40B4-BE49-F238E27FC236}">
                <a16:creationId xmlns:a16="http://schemas.microsoft.com/office/drawing/2014/main" id="{E813A04A-BD2D-AE8D-E674-896D114D19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8703" y="1690688"/>
            <a:ext cx="7998488" cy="4802187"/>
          </a:xfrm>
        </p:spPr>
      </p:pic>
    </p:spTree>
    <p:extLst>
      <p:ext uri="{BB962C8B-B14F-4D97-AF65-F5344CB8AC3E}">
        <p14:creationId xmlns:p14="http://schemas.microsoft.com/office/powerpoint/2010/main" val="946696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DD3A0-37EC-D7E3-6578-031CBC213A01}"/>
              </a:ext>
            </a:extLst>
          </p:cNvPr>
          <p:cNvSpPr>
            <a:spLocks noGrp="1"/>
          </p:cNvSpPr>
          <p:nvPr>
            <p:ph type="title"/>
          </p:nvPr>
        </p:nvSpPr>
        <p:spPr/>
        <p:txBody>
          <a:bodyPr>
            <a:normAutofit/>
          </a:bodyPr>
          <a:lstStyle/>
          <a:p>
            <a:r>
              <a:rPr lang="en-US" sz="3200" dirty="0"/>
              <a:t>8. Show how many patients have a </a:t>
            </a:r>
            <a:r>
              <a:rPr lang="en-US" sz="3200" dirty="0" err="1"/>
              <a:t>birth_date</a:t>
            </a:r>
            <a:r>
              <a:rPr lang="en-US" sz="3200" dirty="0"/>
              <a:t> with 2010 as the</a:t>
            </a:r>
            <a:br>
              <a:rPr lang="en-US" sz="3200" dirty="0"/>
            </a:br>
            <a:r>
              <a:rPr lang="en-US" sz="3200" dirty="0"/>
              <a:t>     birth year.</a:t>
            </a:r>
            <a:endParaRPr lang="en-IN" sz="3200" dirty="0"/>
          </a:p>
        </p:txBody>
      </p:sp>
      <p:pic>
        <p:nvPicPr>
          <p:cNvPr id="5" name="Content Placeholder 4" descr="A black screen with white text&#10;&#10;AI-generated content may be incorrect.">
            <a:extLst>
              <a:ext uri="{FF2B5EF4-FFF2-40B4-BE49-F238E27FC236}">
                <a16:creationId xmlns:a16="http://schemas.microsoft.com/office/drawing/2014/main" id="{6395EED8-7F21-568D-0092-9F544D94EC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76470" y="2338754"/>
            <a:ext cx="6039059" cy="2180492"/>
          </a:xfrm>
        </p:spPr>
      </p:pic>
    </p:spTree>
    <p:extLst>
      <p:ext uri="{BB962C8B-B14F-4D97-AF65-F5344CB8AC3E}">
        <p14:creationId xmlns:p14="http://schemas.microsoft.com/office/powerpoint/2010/main" val="1447205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1DD75-B23E-13B1-8E77-8271C245844A}"/>
              </a:ext>
            </a:extLst>
          </p:cNvPr>
          <p:cNvSpPr>
            <a:spLocks noGrp="1"/>
          </p:cNvSpPr>
          <p:nvPr>
            <p:ph type="title"/>
          </p:nvPr>
        </p:nvSpPr>
        <p:spPr/>
        <p:txBody>
          <a:bodyPr>
            <a:normAutofit/>
          </a:bodyPr>
          <a:lstStyle/>
          <a:p>
            <a:r>
              <a:rPr lang="en-US" sz="3200" dirty="0"/>
              <a:t>9. Show the </a:t>
            </a:r>
            <a:r>
              <a:rPr lang="en-US" sz="3200" dirty="0" err="1"/>
              <a:t>first_name</a:t>
            </a:r>
            <a:r>
              <a:rPr lang="en-US" sz="3200" dirty="0"/>
              <a:t>, </a:t>
            </a:r>
            <a:r>
              <a:rPr lang="en-US" sz="3200" dirty="0" err="1"/>
              <a:t>last_name</a:t>
            </a:r>
            <a:r>
              <a:rPr lang="en-US" sz="3200" dirty="0"/>
              <a:t>, and height of the patient</a:t>
            </a:r>
            <a:br>
              <a:rPr lang="en-US" sz="3200" dirty="0"/>
            </a:br>
            <a:r>
              <a:rPr lang="en-US" sz="3200" dirty="0"/>
              <a:t>     with the greatest height.</a:t>
            </a:r>
            <a:endParaRPr lang="en-IN" sz="3200" dirty="0"/>
          </a:p>
        </p:txBody>
      </p:sp>
      <p:pic>
        <p:nvPicPr>
          <p:cNvPr id="5" name="Content Placeholder 4" descr="A black background with white text&#10;&#10;AI-generated content may be incorrect.">
            <a:extLst>
              <a:ext uri="{FF2B5EF4-FFF2-40B4-BE49-F238E27FC236}">
                <a16:creationId xmlns:a16="http://schemas.microsoft.com/office/drawing/2014/main" id="{BD79363E-D9A8-BFCB-488B-299B65B20D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8448" y="2167932"/>
            <a:ext cx="7295103" cy="2522136"/>
          </a:xfrm>
        </p:spPr>
      </p:pic>
    </p:spTree>
    <p:extLst>
      <p:ext uri="{BB962C8B-B14F-4D97-AF65-F5344CB8AC3E}">
        <p14:creationId xmlns:p14="http://schemas.microsoft.com/office/powerpoint/2010/main" val="1840631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DA780-8233-A6F6-A020-5CEA77574D4C}"/>
              </a:ext>
            </a:extLst>
          </p:cNvPr>
          <p:cNvSpPr>
            <a:spLocks noGrp="1"/>
          </p:cNvSpPr>
          <p:nvPr>
            <p:ph type="title"/>
          </p:nvPr>
        </p:nvSpPr>
        <p:spPr/>
        <p:txBody>
          <a:bodyPr>
            <a:normAutofit/>
          </a:bodyPr>
          <a:lstStyle/>
          <a:p>
            <a:r>
              <a:rPr lang="en-US" sz="3200" dirty="0"/>
              <a:t>10. Show all columns for patients who have one of the </a:t>
            </a:r>
            <a:br>
              <a:rPr lang="en-US" sz="3200" dirty="0"/>
            </a:br>
            <a:r>
              <a:rPr lang="en-US" sz="3200" dirty="0"/>
              <a:t>        following </a:t>
            </a:r>
            <a:r>
              <a:rPr lang="en-US" sz="3200" dirty="0" err="1"/>
              <a:t>patient_ids</a:t>
            </a:r>
            <a:r>
              <a:rPr lang="en-US" sz="3200" dirty="0"/>
              <a:t>: 1,45,534,879,1000 </a:t>
            </a:r>
            <a:endParaRPr lang="en-IN" sz="3200" dirty="0"/>
          </a:p>
        </p:txBody>
      </p:sp>
      <p:pic>
        <p:nvPicPr>
          <p:cNvPr id="5" name="Content Placeholder 4" descr="A black and white screen with white text&#10;&#10;AI-generated content may be incorrect.">
            <a:extLst>
              <a:ext uri="{FF2B5EF4-FFF2-40B4-BE49-F238E27FC236}">
                <a16:creationId xmlns:a16="http://schemas.microsoft.com/office/drawing/2014/main" id="{466D15C5-950B-170E-8B25-7A54773FA0B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361363"/>
            <a:ext cx="10515600" cy="2974312"/>
          </a:xfrm>
        </p:spPr>
      </p:pic>
    </p:spTree>
    <p:extLst>
      <p:ext uri="{BB962C8B-B14F-4D97-AF65-F5344CB8AC3E}">
        <p14:creationId xmlns:p14="http://schemas.microsoft.com/office/powerpoint/2010/main" val="419164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48FD9-FEF7-EECC-67BC-18862E40D215}"/>
              </a:ext>
            </a:extLst>
          </p:cNvPr>
          <p:cNvSpPr>
            <a:spLocks noGrp="1"/>
          </p:cNvSpPr>
          <p:nvPr>
            <p:ph type="title"/>
          </p:nvPr>
        </p:nvSpPr>
        <p:spPr/>
        <p:txBody>
          <a:bodyPr>
            <a:normAutofit/>
          </a:bodyPr>
          <a:lstStyle/>
          <a:p>
            <a:r>
              <a:rPr lang="en-US" sz="3200" dirty="0"/>
              <a:t>11. Show the total number of admissions.</a:t>
            </a:r>
            <a:endParaRPr lang="en-IN" sz="3200" dirty="0"/>
          </a:p>
        </p:txBody>
      </p:sp>
      <p:pic>
        <p:nvPicPr>
          <p:cNvPr id="5" name="Content Placeholder 4" descr="A black screen with white text&#10;&#10;AI-generated content may be incorrect.">
            <a:extLst>
              <a:ext uri="{FF2B5EF4-FFF2-40B4-BE49-F238E27FC236}">
                <a16:creationId xmlns:a16="http://schemas.microsoft.com/office/drawing/2014/main" id="{F62D6520-4F10-EA7E-7088-419A7AEA48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21204" y="2428752"/>
            <a:ext cx="6149592" cy="2000496"/>
          </a:xfrm>
        </p:spPr>
      </p:pic>
    </p:spTree>
    <p:extLst>
      <p:ext uri="{BB962C8B-B14F-4D97-AF65-F5344CB8AC3E}">
        <p14:creationId xmlns:p14="http://schemas.microsoft.com/office/powerpoint/2010/main" val="448841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5F46C-B6AC-049E-3208-2DF9995F7D23}"/>
              </a:ext>
            </a:extLst>
          </p:cNvPr>
          <p:cNvSpPr>
            <a:spLocks noGrp="1"/>
          </p:cNvSpPr>
          <p:nvPr>
            <p:ph type="title"/>
          </p:nvPr>
        </p:nvSpPr>
        <p:spPr/>
        <p:txBody>
          <a:bodyPr>
            <a:normAutofit/>
          </a:bodyPr>
          <a:lstStyle/>
          <a:p>
            <a:r>
              <a:rPr lang="en-US" sz="3200" dirty="0"/>
              <a:t>12. Show all the columns from admissions where the patient</a:t>
            </a:r>
            <a:br>
              <a:rPr lang="en-US" sz="3200" dirty="0"/>
            </a:br>
            <a:r>
              <a:rPr lang="en-US" sz="3200" dirty="0"/>
              <a:t>        was admitted and discharged on the same day</a:t>
            </a:r>
            <a:endParaRPr lang="en-IN" sz="3200" dirty="0"/>
          </a:p>
        </p:txBody>
      </p:sp>
      <p:pic>
        <p:nvPicPr>
          <p:cNvPr id="5" name="Content Placeholder 4" descr="A screenshot of a computer&#10;&#10;AI-generated content may be incorrect.">
            <a:extLst>
              <a:ext uri="{FF2B5EF4-FFF2-40B4-BE49-F238E27FC236}">
                <a16:creationId xmlns:a16="http://schemas.microsoft.com/office/drawing/2014/main" id="{6B67F69B-3324-6ADA-4B62-CEE11A2313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7447" y="1825625"/>
            <a:ext cx="8872694" cy="4351338"/>
          </a:xfrm>
        </p:spPr>
      </p:pic>
    </p:spTree>
    <p:extLst>
      <p:ext uri="{BB962C8B-B14F-4D97-AF65-F5344CB8AC3E}">
        <p14:creationId xmlns:p14="http://schemas.microsoft.com/office/powerpoint/2010/main" val="147619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D1FC1-4F9E-1A92-440C-A67A78C519FE}"/>
              </a:ext>
            </a:extLst>
          </p:cNvPr>
          <p:cNvSpPr>
            <a:spLocks noGrp="1"/>
          </p:cNvSpPr>
          <p:nvPr>
            <p:ph type="title"/>
          </p:nvPr>
        </p:nvSpPr>
        <p:spPr/>
        <p:txBody>
          <a:bodyPr>
            <a:normAutofit/>
          </a:bodyPr>
          <a:lstStyle/>
          <a:p>
            <a:r>
              <a:rPr lang="en-US" sz="3200" dirty="0"/>
              <a:t>13. Show the total number of admissions for </a:t>
            </a:r>
            <a:r>
              <a:rPr lang="en-US" sz="3200" dirty="0" err="1"/>
              <a:t>patient_id</a:t>
            </a:r>
            <a:r>
              <a:rPr lang="en-US" sz="3200" dirty="0"/>
              <a:t> 579.</a:t>
            </a:r>
            <a:endParaRPr lang="en-IN" sz="3200" dirty="0"/>
          </a:p>
        </p:txBody>
      </p:sp>
      <p:pic>
        <p:nvPicPr>
          <p:cNvPr id="7" name="Content Placeholder 6">
            <a:extLst>
              <a:ext uri="{FF2B5EF4-FFF2-40B4-BE49-F238E27FC236}">
                <a16:creationId xmlns:a16="http://schemas.microsoft.com/office/drawing/2014/main" id="{5E4528E4-F95B-F383-A1AE-D8270E4CBF5E}"/>
              </a:ext>
            </a:extLst>
          </p:cNvPr>
          <p:cNvPicPr>
            <a:picLocks noGrp="1" noChangeAspect="1"/>
          </p:cNvPicPr>
          <p:nvPr>
            <p:ph idx="1"/>
          </p:nvPr>
        </p:nvPicPr>
        <p:blipFill>
          <a:blip r:embed="rId2"/>
          <a:stretch>
            <a:fillRect/>
          </a:stretch>
        </p:blipFill>
        <p:spPr>
          <a:xfrm>
            <a:off x="3041301" y="2442519"/>
            <a:ext cx="6109398" cy="1972961"/>
          </a:xfrm>
          <a:prstGeom prst="rect">
            <a:avLst/>
          </a:prstGeom>
        </p:spPr>
      </p:pic>
    </p:spTree>
    <p:extLst>
      <p:ext uri="{BB962C8B-B14F-4D97-AF65-F5344CB8AC3E}">
        <p14:creationId xmlns:p14="http://schemas.microsoft.com/office/powerpoint/2010/main" val="3590278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83EFF-4E66-5278-D591-83E8048444C4}"/>
              </a:ext>
            </a:extLst>
          </p:cNvPr>
          <p:cNvSpPr>
            <a:spLocks noGrp="1"/>
          </p:cNvSpPr>
          <p:nvPr>
            <p:ph type="title"/>
          </p:nvPr>
        </p:nvSpPr>
        <p:spPr/>
        <p:txBody>
          <a:bodyPr>
            <a:normAutofit/>
          </a:bodyPr>
          <a:lstStyle/>
          <a:p>
            <a:r>
              <a:rPr lang="en-US" sz="3200" dirty="0"/>
              <a:t>14. Based on the cities that our patients live in, show unique</a:t>
            </a:r>
            <a:br>
              <a:rPr lang="en-US" sz="3200" dirty="0"/>
            </a:br>
            <a:r>
              <a:rPr lang="en-US" sz="3200" dirty="0"/>
              <a:t>       cities that are in </a:t>
            </a:r>
            <a:r>
              <a:rPr lang="en-US" sz="3200" dirty="0" err="1"/>
              <a:t>province_id</a:t>
            </a:r>
            <a:r>
              <a:rPr lang="en-US" sz="3200" dirty="0"/>
              <a:t> 'NS'? </a:t>
            </a:r>
            <a:endParaRPr lang="en-IN" sz="3200" dirty="0"/>
          </a:p>
        </p:txBody>
      </p:sp>
      <p:pic>
        <p:nvPicPr>
          <p:cNvPr id="5" name="Content Placeholder 4">
            <a:extLst>
              <a:ext uri="{FF2B5EF4-FFF2-40B4-BE49-F238E27FC236}">
                <a16:creationId xmlns:a16="http://schemas.microsoft.com/office/drawing/2014/main" id="{E9E2BEED-6FF6-A3F9-C1B6-0524E145F0AC}"/>
              </a:ext>
            </a:extLst>
          </p:cNvPr>
          <p:cNvPicPr>
            <a:picLocks noGrp="1" noChangeAspect="1"/>
          </p:cNvPicPr>
          <p:nvPr>
            <p:ph idx="1"/>
          </p:nvPr>
        </p:nvPicPr>
        <p:blipFill>
          <a:blip r:embed="rId2"/>
          <a:stretch>
            <a:fillRect/>
          </a:stretch>
        </p:blipFill>
        <p:spPr>
          <a:xfrm>
            <a:off x="2885551" y="2147072"/>
            <a:ext cx="6420897" cy="2563855"/>
          </a:xfrm>
          <a:prstGeom prst="rect">
            <a:avLst/>
          </a:prstGeom>
        </p:spPr>
      </p:pic>
    </p:spTree>
    <p:extLst>
      <p:ext uri="{BB962C8B-B14F-4D97-AF65-F5344CB8AC3E}">
        <p14:creationId xmlns:p14="http://schemas.microsoft.com/office/powerpoint/2010/main" val="967095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1CEED-8BA9-6DD3-2A4B-E7DC54BFDFDC}"/>
              </a:ext>
            </a:extLst>
          </p:cNvPr>
          <p:cNvSpPr>
            <a:spLocks noGrp="1"/>
          </p:cNvSpPr>
          <p:nvPr>
            <p:ph type="title"/>
          </p:nvPr>
        </p:nvSpPr>
        <p:spPr/>
        <p:txBody>
          <a:bodyPr>
            <a:normAutofit fontScale="90000"/>
          </a:bodyPr>
          <a:lstStyle/>
          <a:p>
            <a:r>
              <a:rPr lang="en-US" sz="3200" dirty="0"/>
              <a:t>15. Write a query to find the </a:t>
            </a:r>
            <a:r>
              <a:rPr lang="en-US" sz="3200" dirty="0" err="1"/>
              <a:t>first_name</a:t>
            </a:r>
            <a:r>
              <a:rPr lang="en-US" sz="3200" dirty="0"/>
              <a:t>, last name and birth date of</a:t>
            </a:r>
            <a:br>
              <a:rPr lang="en-US" sz="3200" dirty="0"/>
            </a:br>
            <a:r>
              <a:rPr lang="en-US" sz="3200" dirty="0"/>
              <a:t>        patients who have height more than 160 and weight more than 70.</a:t>
            </a:r>
            <a:endParaRPr lang="en-IN" sz="3200" dirty="0"/>
          </a:p>
        </p:txBody>
      </p:sp>
      <p:pic>
        <p:nvPicPr>
          <p:cNvPr id="5" name="Content Placeholder 4">
            <a:extLst>
              <a:ext uri="{FF2B5EF4-FFF2-40B4-BE49-F238E27FC236}">
                <a16:creationId xmlns:a16="http://schemas.microsoft.com/office/drawing/2014/main" id="{39DEBE69-BA12-59BD-D965-1663611DE0A3}"/>
              </a:ext>
            </a:extLst>
          </p:cNvPr>
          <p:cNvPicPr>
            <a:picLocks noGrp="1" noChangeAspect="1"/>
          </p:cNvPicPr>
          <p:nvPr>
            <p:ph idx="1"/>
          </p:nvPr>
        </p:nvPicPr>
        <p:blipFill>
          <a:blip r:embed="rId2"/>
          <a:stretch>
            <a:fillRect/>
          </a:stretch>
        </p:blipFill>
        <p:spPr>
          <a:xfrm>
            <a:off x="1557495" y="1690688"/>
            <a:ext cx="8701872" cy="4639774"/>
          </a:xfrm>
          <a:prstGeom prst="rect">
            <a:avLst/>
          </a:prstGeom>
        </p:spPr>
      </p:pic>
    </p:spTree>
    <p:extLst>
      <p:ext uri="{BB962C8B-B14F-4D97-AF65-F5344CB8AC3E}">
        <p14:creationId xmlns:p14="http://schemas.microsoft.com/office/powerpoint/2010/main" val="3411852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6E6F7-02D2-8F05-35D5-F4842459F7C7}"/>
              </a:ext>
            </a:extLst>
          </p:cNvPr>
          <p:cNvSpPr>
            <a:spLocks noGrp="1"/>
          </p:cNvSpPr>
          <p:nvPr>
            <p:ph type="title"/>
          </p:nvPr>
        </p:nvSpPr>
        <p:spPr/>
        <p:txBody>
          <a:bodyPr>
            <a:normAutofit/>
          </a:bodyPr>
          <a:lstStyle/>
          <a:p>
            <a:r>
              <a:rPr lang="en-US" sz="3200" dirty="0"/>
              <a:t>16. Show unique birth years from patients and order them by</a:t>
            </a:r>
            <a:br>
              <a:rPr lang="en-US" sz="3200" dirty="0"/>
            </a:br>
            <a:r>
              <a:rPr lang="en-US" sz="3200" dirty="0"/>
              <a:t>        ascending</a:t>
            </a:r>
            <a:endParaRPr lang="en-IN" sz="3200" dirty="0"/>
          </a:p>
        </p:txBody>
      </p:sp>
      <p:pic>
        <p:nvPicPr>
          <p:cNvPr id="5" name="Content Placeholder 4">
            <a:extLst>
              <a:ext uri="{FF2B5EF4-FFF2-40B4-BE49-F238E27FC236}">
                <a16:creationId xmlns:a16="http://schemas.microsoft.com/office/drawing/2014/main" id="{EEA10ECC-54EF-C79B-61B4-44AA87D37300}"/>
              </a:ext>
            </a:extLst>
          </p:cNvPr>
          <p:cNvPicPr>
            <a:picLocks noGrp="1" noChangeAspect="1"/>
          </p:cNvPicPr>
          <p:nvPr>
            <p:ph idx="1"/>
          </p:nvPr>
        </p:nvPicPr>
        <p:blipFill>
          <a:blip r:embed="rId2"/>
          <a:stretch>
            <a:fillRect/>
          </a:stretch>
        </p:blipFill>
        <p:spPr>
          <a:xfrm>
            <a:off x="4804786" y="1690688"/>
            <a:ext cx="2582427" cy="4880933"/>
          </a:xfrm>
          <a:prstGeom prst="rect">
            <a:avLst/>
          </a:prstGeom>
        </p:spPr>
      </p:pic>
    </p:spTree>
    <p:extLst>
      <p:ext uri="{BB962C8B-B14F-4D97-AF65-F5344CB8AC3E}">
        <p14:creationId xmlns:p14="http://schemas.microsoft.com/office/powerpoint/2010/main" val="1210043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C50F6-BFD8-BFE8-8BEA-32BCB9A57F83}"/>
              </a:ext>
            </a:extLst>
          </p:cNvPr>
          <p:cNvSpPr>
            <a:spLocks noGrp="1"/>
          </p:cNvSpPr>
          <p:nvPr>
            <p:ph type="title"/>
          </p:nvPr>
        </p:nvSpPr>
        <p:spPr>
          <a:xfrm>
            <a:off x="838200" y="365125"/>
            <a:ext cx="10515600" cy="2488607"/>
          </a:xfrm>
        </p:spPr>
        <p:txBody>
          <a:bodyPr>
            <a:normAutofit/>
          </a:bodyPr>
          <a:lstStyle/>
          <a:p>
            <a:r>
              <a:rPr lang="en-US" sz="2800" dirty="0"/>
              <a:t>17. Show unique first names from the patients table which only occurs</a:t>
            </a:r>
            <a:br>
              <a:rPr lang="en-US" sz="2800" dirty="0"/>
            </a:br>
            <a:r>
              <a:rPr lang="en-US" sz="2800" dirty="0"/>
              <a:t>       once in the list. For example, if two or more people are named 'John’  </a:t>
            </a:r>
            <a:br>
              <a:rPr lang="en-US" sz="2800" dirty="0"/>
            </a:br>
            <a:r>
              <a:rPr lang="en-US" sz="2800" dirty="0"/>
              <a:t>       in the </a:t>
            </a:r>
            <a:r>
              <a:rPr lang="en-US" sz="2800" dirty="0" err="1"/>
              <a:t>first_name</a:t>
            </a:r>
            <a:r>
              <a:rPr lang="en-US" sz="2800" dirty="0"/>
              <a:t> column then don't include their name in the output</a:t>
            </a:r>
            <a:br>
              <a:rPr lang="en-US" sz="2800" dirty="0"/>
            </a:br>
            <a:r>
              <a:rPr lang="en-US" sz="2800" dirty="0"/>
              <a:t>       list. If only 1 person is named 'Leo' then include them in the output.</a:t>
            </a:r>
            <a:br>
              <a:rPr lang="en-US" sz="2800" dirty="0"/>
            </a:br>
            <a:r>
              <a:rPr lang="en-US" sz="2800" dirty="0"/>
              <a:t>      Tip: HAVING clause was added to SQL because the WHERE keyword</a:t>
            </a:r>
            <a:br>
              <a:rPr lang="en-US" sz="2800" dirty="0"/>
            </a:br>
            <a:r>
              <a:rPr lang="en-US" sz="2800" dirty="0"/>
              <a:t>      cannot be used with aggregate functions. </a:t>
            </a:r>
            <a:endParaRPr lang="en-IN" sz="2800" dirty="0"/>
          </a:p>
        </p:txBody>
      </p:sp>
      <p:pic>
        <p:nvPicPr>
          <p:cNvPr id="5" name="Content Placeholder 4">
            <a:extLst>
              <a:ext uri="{FF2B5EF4-FFF2-40B4-BE49-F238E27FC236}">
                <a16:creationId xmlns:a16="http://schemas.microsoft.com/office/drawing/2014/main" id="{239F68CF-C625-29B1-F624-FF7232B7EB85}"/>
              </a:ext>
            </a:extLst>
          </p:cNvPr>
          <p:cNvPicPr>
            <a:picLocks noGrp="1" noChangeAspect="1"/>
          </p:cNvPicPr>
          <p:nvPr>
            <p:ph idx="1"/>
          </p:nvPr>
        </p:nvPicPr>
        <p:blipFill>
          <a:blip r:embed="rId2"/>
          <a:stretch>
            <a:fillRect/>
          </a:stretch>
        </p:blipFill>
        <p:spPr>
          <a:xfrm>
            <a:off x="4671259" y="2853732"/>
            <a:ext cx="2849482" cy="3322638"/>
          </a:xfrm>
          <a:prstGeom prst="rect">
            <a:avLst/>
          </a:prstGeom>
        </p:spPr>
      </p:pic>
    </p:spTree>
    <p:extLst>
      <p:ext uri="{BB962C8B-B14F-4D97-AF65-F5344CB8AC3E}">
        <p14:creationId xmlns:p14="http://schemas.microsoft.com/office/powerpoint/2010/main" val="1761632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01EA8-378C-89F7-8BB3-AFED25A33B63}"/>
              </a:ext>
            </a:extLst>
          </p:cNvPr>
          <p:cNvSpPr>
            <a:spLocks noGrp="1"/>
          </p:cNvSpPr>
          <p:nvPr>
            <p:ph type="title"/>
          </p:nvPr>
        </p:nvSpPr>
        <p:spPr/>
        <p:txBody>
          <a:bodyPr>
            <a:normAutofit fontScale="90000"/>
          </a:bodyPr>
          <a:lstStyle/>
          <a:p>
            <a:r>
              <a:rPr lang="en-US" sz="3200" dirty="0"/>
              <a:t>18. Show </a:t>
            </a:r>
            <a:r>
              <a:rPr lang="en-US" sz="3200" dirty="0" err="1"/>
              <a:t>patient_id</a:t>
            </a:r>
            <a:r>
              <a:rPr lang="en-US" sz="3200" dirty="0"/>
              <a:t> and </a:t>
            </a:r>
            <a:r>
              <a:rPr lang="en-US" sz="3200" dirty="0" err="1"/>
              <a:t>first_name</a:t>
            </a:r>
            <a:r>
              <a:rPr lang="en-US" sz="3200" dirty="0"/>
              <a:t> from patients where their</a:t>
            </a:r>
            <a:br>
              <a:rPr lang="en-US" sz="3200" dirty="0"/>
            </a:br>
            <a:r>
              <a:rPr lang="en-US" sz="3200" dirty="0"/>
              <a:t>      </a:t>
            </a:r>
            <a:r>
              <a:rPr lang="en-US" sz="3200" dirty="0" err="1"/>
              <a:t>first_name</a:t>
            </a:r>
            <a:r>
              <a:rPr lang="en-US" sz="3200" dirty="0"/>
              <a:t> starts and ends with 's' and is at least 6 characters long. </a:t>
            </a:r>
            <a:endParaRPr lang="en-IN" sz="3200" dirty="0"/>
          </a:p>
        </p:txBody>
      </p:sp>
      <p:pic>
        <p:nvPicPr>
          <p:cNvPr id="5" name="Content Placeholder 4">
            <a:extLst>
              <a:ext uri="{FF2B5EF4-FFF2-40B4-BE49-F238E27FC236}">
                <a16:creationId xmlns:a16="http://schemas.microsoft.com/office/drawing/2014/main" id="{8044EDE3-F266-519E-F3A2-8A3BF27A2A1D}"/>
              </a:ext>
            </a:extLst>
          </p:cNvPr>
          <p:cNvPicPr>
            <a:picLocks noGrp="1" noChangeAspect="1"/>
          </p:cNvPicPr>
          <p:nvPr>
            <p:ph idx="1"/>
          </p:nvPr>
        </p:nvPicPr>
        <p:blipFill>
          <a:blip r:embed="rId2"/>
          <a:stretch>
            <a:fillRect/>
          </a:stretch>
        </p:blipFill>
        <p:spPr>
          <a:xfrm>
            <a:off x="4473191" y="1690688"/>
            <a:ext cx="3245618" cy="4177549"/>
          </a:xfrm>
          <a:prstGeom prst="rect">
            <a:avLst/>
          </a:prstGeom>
        </p:spPr>
      </p:pic>
    </p:spTree>
    <p:extLst>
      <p:ext uri="{BB962C8B-B14F-4D97-AF65-F5344CB8AC3E}">
        <p14:creationId xmlns:p14="http://schemas.microsoft.com/office/powerpoint/2010/main" val="2149891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212A7-6DFC-B8C3-0E35-8F3387ADAB88}"/>
              </a:ext>
            </a:extLst>
          </p:cNvPr>
          <p:cNvSpPr>
            <a:spLocks noGrp="1"/>
          </p:cNvSpPr>
          <p:nvPr>
            <p:ph type="title"/>
          </p:nvPr>
        </p:nvSpPr>
        <p:spPr/>
        <p:txBody>
          <a:bodyPr>
            <a:normAutofit fontScale="90000"/>
          </a:bodyPr>
          <a:lstStyle/>
          <a:p>
            <a:r>
              <a:rPr lang="en-US" sz="3200" dirty="0"/>
              <a:t>19. Show </a:t>
            </a:r>
            <a:r>
              <a:rPr lang="en-US" sz="3200" dirty="0" err="1"/>
              <a:t>patient_id</a:t>
            </a:r>
            <a:r>
              <a:rPr lang="en-US" sz="3200" dirty="0"/>
              <a:t>, </a:t>
            </a:r>
            <a:r>
              <a:rPr lang="en-US" sz="3200" dirty="0" err="1"/>
              <a:t>first_name</a:t>
            </a:r>
            <a:r>
              <a:rPr lang="en-US" sz="3200" dirty="0"/>
              <a:t>, </a:t>
            </a:r>
            <a:r>
              <a:rPr lang="en-US" sz="3200" dirty="0" err="1"/>
              <a:t>last_name</a:t>
            </a:r>
            <a:r>
              <a:rPr lang="en-US" sz="3200" dirty="0"/>
              <a:t> from patients whose</a:t>
            </a:r>
            <a:br>
              <a:rPr lang="en-US" sz="3200" dirty="0"/>
            </a:br>
            <a:r>
              <a:rPr lang="en-US" sz="3200" dirty="0"/>
              <a:t>       diagnosis is 'Dementia'. Primary diagnosis is stored in the</a:t>
            </a:r>
            <a:br>
              <a:rPr lang="en-US" sz="3200" dirty="0"/>
            </a:br>
            <a:r>
              <a:rPr lang="en-US" sz="3200" dirty="0"/>
              <a:t>       admissions table. </a:t>
            </a:r>
            <a:endParaRPr lang="en-IN" sz="3200" dirty="0"/>
          </a:p>
        </p:txBody>
      </p:sp>
      <p:pic>
        <p:nvPicPr>
          <p:cNvPr id="5" name="Content Placeholder 4">
            <a:extLst>
              <a:ext uri="{FF2B5EF4-FFF2-40B4-BE49-F238E27FC236}">
                <a16:creationId xmlns:a16="http://schemas.microsoft.com/office/drawing/2014/main" id="{61047A60-4FBE-5953-2BCB-58F300F564CC}"/>
              </a:ext>
            </a:extLst>
          </p:cNvPr>
          <p:cNvPicPr>
            <a:picLocks noGrp="1" noChangeAspect="1"/>
          </p:cNvPicPr>
          <p:nvPr>
            <p:ph idx="1"/>
          </p:nvPr>
        </p:nvPicPr>
        <p:blipFill>
          <a:blip r:embed="rId2"/>
          <a:stretch>
            <a:fillRect/>
          </a:stretch>
        </p:blipFill>
        <p:spPr>
          <a:xfrm>
            <a:off x="3588936" y="1690688"/>
            <a:ext cx="5014128" cy="4667250"/>
          </a:xfrm>
          <a:prstGeom prst="rect">
            <a:avLst/>
          </a:prstGeom>
        </p:spPr>
      </p:pic>
    </p:spTree>
    <p:extLst>
      <p:ext uri="{BB962C8B-B14F-4D97-AF65-F5344CB8AC3E}">
        <p14:creationId xmlns:p14="http://schemas.microsoft.com/office/powerpoint/2010/main" val="1896014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6C2D2-4E79-77E3-AD34-78221AD86D22}"/>
              </a:ext>
            </a:extLst>
          </p:cNvPr>
          <p:cNvSpPr>
            <a:spLocks noGrp="1"/>
          </p:cNvSpPr>
          <p:nvPr>
            <p:ph type="title"/>
          </p:nvPr>
        </p:nvSpPr>
        <p:spPr/>
        <p:txBody>
          <a:bodyPr>
            <a:normAutofit/>
          </a:bodyPr>
          <a:lstStyle/>
          <a:p>
            <a:r>
              <a:rPr lang="en-US" sz="3200" dirty="0"/>
              <a:t>20. Display every patient's </a:t>
            </a:r>
            <a:r>
              <a:rPr lang="en-US" sz="3200" dirty="0" err="1"/>
              <a:t>first_name</a:t>
            </a:r>
            <a:r>
              <a:rPr lang="en-US" sz="3200" dirty="0"/>
              <a:t>. Order the list by the</a:t>
            </a:r>
            <a:br>
              <a:rPr lang="en-US" sz="3200" dirty="0"/>
            </a:br>
            <a:r>
              <a:rPr lang="en-US" sz="3200" dirty="0"/>
              <a:t>       length of each name and then by alphabetically.</a:t>
            </a:r>
            <a:endParaRPr lang="en-IN" sz="3200" dirty="0"/>
          </a:p>
        </p:txBody>
      </p:sp>
      <p:pic>
        <p:nvPicPr>
          <p:cNvPr id="5" name="Content Placeholder 4">
            <a:extLst>
              <a:ext uri="{FF2B5EF4-FFF2-40B4-BE49-F238E27FC236}">
                <a16:creationId xmlns:a16="http://schemas.microsoft.com/office/drawing/2014/main" id="{C0BE8DD9-C1AE-FD99-5C07-2AC959589818}"/>
              </a:ext>
            </a:extLst>
          </p:cNvPr>
          <p:cNvPicPr>
            <a:picLocks noGrp="1" noChangeAspect="1"/>
          </p:cNvPicPr>
          <p:nvPr>
            <p:ph idx="1"/>
          </p:nvPr>
        </p:nvPicPr>
        <p:blipFill>
          <a:blip r:embed="rId2"/>
          <a:stretch>
            <a:fillRect/>
          </a:stretch>
        </p:blipFill>
        <p:spPr>
          <a:xfrm>
            <a:off x="5075711" y="1690688"/>
            <a:ext cx="2040578" cy="4351338"/>
          </a:xfrm>
          <a:prstGeom prst="rect">
            <a:avLst/>
          </a:prstGeom>
        </p:spPr>
      </p:pic>
    </p:spTree>
    <p:extLst>
      <p:ext uri="{BB962C8B-B14F-4D97-AF65-F5344CB8AC3E}">
        <p14:creationId xmlns:p14="http://schemas.microsoft.com/office/powerpoint/2010/main" val="18670850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00579-B5C8-B16D-403F-872F16C3DDFE}"/>
              </a:ext>
            </a:extLst>
          </p:cNvPr>
          <p:cNvSpPr>
            <a:spLocks noGrp="1"/>
          </p:cNvSpPr>
          <p:nvPr>
            <p:ph type="title"/>
          </p:nvPr>
        </p:nvSpPr>
        <p:spPr/>
        <p:txBody>
          <a:bodyPr>
            <a:normAutofit fontScale="90000"/>
          </a:bodyPr>
          <a:lstStyle/>
          <a:p>
            <a:r>
              <a:rPr lang="en-US" sz="3200" dirty="0"/>
              <a:t>21. Show the total number of male patients and the total number of</a:t>
            </a:r>
            <a:br>
              <a:rPr lang="en-US" sz="3200" dirty="0"/>
            </a:br>
            <a:r>
              <a:rPr lang="en-US" sz="3200" dirty="0"/>
              <a:t>       female patients in the patients table. Display the two results in the</a:t>
            </a:r>
            <a:br>
              <a:rPr lang="en-US" sz="3200" dirty="0"/>
            </a:br>
            <a:r>
              <a:rPr lang="en-US" sz="3200" dirty="0"/>
              <a:t>       same row. </a:t>
            </a:r>
            <a:endParaRPr lang="en-IN" sz="3200" dirty="0"/>
          </a:p>
        </p:txBody>
      </p:sp>
      <p:pic>
        <p:nvPicPr>
          <p:cNvPr id="5" name="Content Placeholder 4">
            <a:extLst>
              <a:ext uri="{FF2B5EF4-FFF2-40B4-BE49-F238E27FC236}">
                <a16:creationId xmlns:a16="http://schemas.microsoft.com/office/drawing/2014/main" id="{9138AF5D-A921-05CF-631B-ACF429B3AA7D}"/>
              </a:ext>
            </a:extLst>
          </p:cNvPr>
          <p:cNvPicPr>
            <a:picLocks noGrp="1" noChangeAspect="1"/>
          </p:cNvPicPr>
          <p:nvPr>
            <p:ph idx="1"/>
          </p:nvPr>
        </p:nvPicPr>
        <p:blipFill>
          <a:blip r:embed="rId2"/>
          <a:stretch>
            <a:fillRect/>
          </a:stretch>
        </p:blipFill>
        <p:spPr>
          <a:xfrm>
            <a:off x="3387969" y="2434213"/>
            <a:ext cx="5416062" cy="1989573"/>
          </a:xfrm>
          <a:prstGeom prst="rect">
            <a:avLst/>
          </a:prstGeom>
        </p:spPr>
      </p:pic>
    </p:spTree>
    <p:extLst>
      <p:ext uri="{BB962C8B-B14F-4D97-AF65-F5344CB8AC3E}">
        <p14:creationId xmlns:p14="http://schemas.microsoft.com/office/powerpoint/2010/main" val="7678584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55D59-18DA-F1A3-B16F-C35A27A1D898}"/>
              </a:ext>
            </a:extLst>
          </p:cNvPr>
          <p:cNvSpPr>
            <a:spLocks noGrp="1"/>
          </p:cNvSpPr>
          <p:nvPr>
            <p:ph type="title"/>
          </p:nvPr>
        </p:nvSpPr>
        <p:spPr/>
        <p:txBody>
          <a:bodyPr>
            <a:normAutofit fontScale="90000"/>
          </a:bodyPr>
          <a:lstStyle/>
          <a:p>
            <a:r>
              <a:rPr lang="en-US" sz="3200" dirty="0"/>
              <a:t>22. Show the total number of male patients and the total number of</a:t>
            </a:r>
            <a:br>
              <a:rPr lang="en-US" sz="3200" dirty="0"/>
            </a:br>
            <a:r>
              <a:rPr lang="en-US" sz="3200" dirty="0"/>
              <a:t>       female patients in the patients table. Display the two results in the</a:t>
            </a:r>
            <a:br>
              <a:rPr lang="en-US" sz="3200" dirty="0"/>
            </a:br>
            <a:r>
              <a:rPr lang="en-US" sz="3200" dirty="0"/>
              <a:t>      same row. </a:t>
            </a:r>
            <a:endParaRPr lang="en-IN" sz="3200" dirty="0"/>
          </a:p>
        </p:txBody>
      </p:sp>
      <p:pic>
        <p:nvPicPr>
          <p:cNvPr id="5" name="Content Placeholder 4">
            <a:extLst>
              <a:ext uri="{FF2B5EF4-FFF2-40B4-BE49-F238E27FC236}">
                <a16:creationId xmlns:a16="http://schemas.microsoft.com/office/drawing/2014/main" id="{F3E259D0-672E-1339-F0A5-A81418DCBEDA}"/>
              </a:ext>
            </a:extLst>
          </p:cNvPr>
          <p:cNvPicPr>
            <a:picLocks noGrp="1" noChangeAspect="1"/>
          </p:cNvPicPr>
          <p:nvPr>
            <p:ph idx="1"/>
          </p:nvPr>
        </p:nvPicPr>
        <p:blipFill>
          <a:blip r:embed="rId2"/>
          <a:stretch>
            <a:fillRect/>
          </a:stretch>
        </p:blipFill>
        <p:spPr>
          <a:xfrm>
            <a:off x="3523622" y="2198077"/>
            <a:ext cx="5144755" cy="2461846"/>
          </a:xfrm>
          <a:prstGeom prst="rect">
            <a:avLst/>
          </a:prstGeom>
        </p:spPr>
      </p:pic>
    </p:spTree>
    <p:extLst>
      <p:ext uri="{BB962C8B-B14F-4D97-AF65-F5344CB8AC3E}">
        <p14:creationId xmlns:p14="http://schemas.microsoft.com/office/powerpoint/2010/main" val="12820955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D8BBD-A0DC-DD4A-F0A2-C0283598183E}"/>
              </a:ext>
            </a:extLst>
          </p:cNvPr>
          <p:cNvSpPr>
            <a:spLocks noGrp="1"/>
          </p:cNvSpPr>
          <p:nvPr>
            <p:ph type="title"/>
          </p:nvPr>
        </p:nvSpPr>
        <p:spPr/>
        <p:txBody>
          <a:bodyPr>
            <a:normAutofit/>
          </a:bodyPr>
          <a:lstStyle/>
          <a:p>
            <a:r>
              <a:rPr lang="en-US" sz="3200" dirty="0"/>
              <a:t>23. Show </a:t>
            </a:r>
            <a:r>
              <a:rPr lang="en-US" sz="3200" dirty="0" err="1"/>
              <a:t>patient_id</a:t>
            </a:r>
            <a:r>
              <a:rPr lang="en-US" sz="3200" dirty="0"/>
              <a:t>, diagnosis from admissions. Find patients</a:t>
            </a:r>
            <a:br>
              <a:rPr lang="en-US" sz="3200" dirty="0"/>
            </a:br>
            <a:r>
              <a:rPr lang="en-US" sz="3200" dirty="0"/>
              <a:t>       admitted multiple times for the same diagnosis. </a:t>
            </a:r>
            <a:endParaRPr lang="en-IN" sz="3200" dirty="0"/>
          </a:p>
        </p:txBody>
      </p:sp>
      <p:sp>
        <p:nvSpPr>
          <p:cNvPr id="9" name="Content Placeholder 8">
            <a:extLst>
              <a:ext uri="{FF2B5EF4-FFF2-40B4-BE49-F238E27FC236}">
                <a16:creationId xmlns:a16="http://schemas.microsoft.com/office/drawing/2014/main" id="{C9FEE47C-4D90-BD0E-A1AE-3097D960769B}"/>
              </a:ext>
            </a:extLst>
          </p:cNvPr>
          <p:cNvSpPr>
            <a:spLocks noGrp="1"/>
          </p:cNvSpPr>
          <p:nvPr>
            <p:ph idx="1"/>
          </p:nvPr>
        </p:nvSpPr>
        <p:spPr>
          <a:xfrm>
            <a:off x="1758462" y="2431701"/>
            <a:ext cx="7526215" cy="1909187"/>
          </a:xfrm>
        </p:spPr>
        <p:txBody>
          <a:bodyPr/>
          <a:lstStyle/>
          <a:p>
            <a:endParaRPr lang="en-IN" dirty="0"/>
          </a:p>
        </p:txBody>
      </p:sp>
      <p:pic>
        <p:nvPicPr>
          <p:cNvPr id="11" name="Picture 10">
            <a:extLst>
              <a:ext uri="{FF2B5EF4-FFF2-40B4-BE49-F238E27FC236}">
                <a16:creationId xmlns:a16="http://schemas.microsoft.com/office/drawing/2014/main" id="{F65FFE55-66C0-7F29-C5AD-B4E5193E3516}"/>
              </a:ext>
            </a:extLst>
          </p:cNvPr>
          <p:cNvPicPr>
            <a:picLocks noChangeAspect="1"/>
          </p:cNvPicPr>
          <p:nvPr/>
        </p:nvPicPr>
        <p:blipFill>
          <a:blip r:embed="rId2"/>
          <a:stretch>
            <a:fillRect/>
          </a:stretch>
        </p:blipFill>
        <p:spPr>
          <a:xfrm>
            <a:off x="918781" y="1776970"/>
            <a:ext cx="10435019" cy="3903747"/>
          </a:xfrm>
          <a:prstGeom prst="rect">
            <a:avLst/>
          </a:prstGeom>
        </p:spPr>
      </p:pic>
    </p:spTree>
    <p:extLst>
      <p:ext uri="{BB962C8B-B14F-4D97-AF65-F5344CB8AC3E}">
        <p14:creationId xmlns:p14="http://schemas.microsoft.com/office/powerpoint/2010/main" val="35765559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3740C-8370-249D-A24D-50A4FAF188C5}"/>
              </a:ext>
            </a:extLst>
          </p:cNvPr>
          <p:cNvSpPr>
            <a:spLocks noGrp="1"/>
          </p:cNvSpPr>
          <p:nvPr>
            <p:ph type="title"/>
          </p:nvPr>
        </p:nvSpPr>
        <p:spPr/>
        <p:txBody>
          <a:bodyPr>
            <a:normAutofit fontScale="90000"/>
          </a:bodyPr>
          <a:lstStyle/>
          <a:p>
            <a:r>
              <a:rPr lang="en-US" sz="3200" dirty="0"/>
              <a:t>24. Show the city and the total number of patients in the city. Order</a:t>
            </a:r>
            <a:br>
              <a:rPr lang="en-US" sz="3200" dirty="0"/>
            </a:br>
            <a:r>
              <a:rPr lang="en-US" sz="3200" dirty="0"/>
              <a:t>       from most to least patients and then by city name ascending.</a:t>
            </a:r>
            <a:endParaRPr lang="en-IN" sz="3200" dirty="0"/>
          </a:p>
        </p:txBody>
      </p:sp>
      <p:pic>
        <p:nvPicPr>
          <p:cNvPr id="5" name="Content Placeholder 4">
            <a:extLst>
              <a:ext uri="{FF2B5EF4-FFF2-40B4-BE49-F238E27FC236}">
                <a16:creationId xmlns:a16="http://schemas.microsoft.com/office/drawing/2014/main" id="{EF37570B-6A95-B2F3-08D7-E23988DFEEEA}"/>
              </a:ext>
            </a:extLst>
          </p:cNvPr>
          <p:cNvPicPr>
            <a:picLocks noGrp="1" noChangeAspect="1"/>
          </p:cNvPicPr>
          <p:nvPr>
            <p:ph idx="1"/>
          </p:nvPr>
        </p:nvPicPr>
        <p:blipFill>
          <a:blip r:embed="rId2"/>
          <a:stretch>
            <a:fillRect/>
          </a:stretch>
        </p:blipFill>
        <p:spPr>
          <a:xfrm>
            <a:off x="3558791" y="1690688"/>
            <a:ext cx="5074417" cy="4710111"/>
          </a:xfrm>
          <a:prstGeom prst="rect">
            <a:avLst/>
          </a:prstGeom>
        </p:spPr>
      </p:pic>
    </p:spTree>
    <p:extLst>
      <p:ext uri="{BB962C8B-B14F-4D97-AF65-F5344CB8AC3E}">
        <p14:creationId xmlns:p14="http://schemas.microsoft.com/office/powerpoint/2010/main" val="19449668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5F83D-645C-5CC6-19C7-D1DB15A168A1}"/>
              </a:ext>
            </a:extLst>
          </p:cNvPr>
          <p:cNvSpPr>
            <a:spLocks noGrp="1"/>
          </p:cNvSpPr>
          <p:nvPr>
            <p:ph type="title"/>
          </p:nvPr>
        </p:nvSpPr>
        <p:spPr/>
        <p:txBody>
          <a:bodyPr>
            <a:normAutofit fontScale="90000"/>
          </a:bodyPr>
          <a:lstStyle/>
          <a:p>
            <a:r>
              <a:rPr lang="en-US" sz="3200" dirty="0"/>
              <a:t>25. Show first name, last name and role of every person that is either</a:t>
            </a:r>
            <a:br>
              <a:rPr lang="en-US" sz="3200" dirty="0"/>
            </a:br>
            <a:r>
              <a:rPr lang="en-US" sz="3200" dirty="0"/>
              <a:t>       patient or doctor. The roles are either "Patient" or "Doctor"</a:t>
            </a:r>
            <a:endParaRPr lang="en-IN" sz="3200" dirty="0"/>
          </a:p>
        </p:txBody>
      </p:sp>
      <p:pic>
        <p:nvPicPr>
          <p:cNvPr id="5" name="Content Placeholder 4">
            <a:extLst>
              <a:ext uri="{FF2B5EF4-FFF2-40B4-BE49-F238E27FC236}">
                <a16:creationId xmlns:a16="http://schemas.microsoft.com/office/drawing/2014/main" id="{43085150-38DC-5871-7B55-20E414097036}"/>
              </a:ext>
            </a:extLst>
          </p:cNvPr>
          <p:cNvPicPr>
            <a:picLocks noGrp="1" noChangeAspect="1"/>
          </p:cNvPicPr>
          <p:nvPr>
            <p:ph idx="1"/>
          </p:nvPr>
        </p:nvPicPr>
        <p:blipFill>
          <a:blip r:embed="rId2"/>
          <a:stretch>
            <a:fillRect/>
          </a:stretch>
        </p:blipFill>
        <p:spPr>
          <a:xfrm>
            <a:off x="3232219" y="1690688"/>
            <a:ext cx="5727561" cy="4722725"/>
          </a:xfrm>
          <a:prstGeom prst="rect">
            <a:avLst/>
          </a:prstGeom>
        </p:spPr>
      </p:pic>
    </p:spTree>
    <p:extLst>
      <p:ext uri="{BB962C8B-B14F-4D97-AF65-F5344CB8AC3E}">
        <p14:creationId xmlns:p14="http://schemas.microsoft.com/office/powerpoint/2010/main" val="3943352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9F81F-53DA-BF77-36BD-B6C19D4207F4}"/>
              </a:ext>
            </a:extLst>
          </p:cNvPr>
          <p:cNvSpPr>
            <a:spLocks noGrp="1"/>
          </p:cNvSpPr>
          <p:nvPr>
            <p:ph type="title"/>
          </p:nvPr>
        </p:nvSpPr>
        <p:spPr/>
        <p:txBody>
          <a:bodyPr>
            <a:normAutofit/>
          </a:bodyPr>
          <a:lstStyle/>
          <a:p>
            <a:r>
              <a:rPr lang="en-US" sz="3200" dirty="0"/>
              <a:t>26. Show all allergies ordered by popularity. Remove NULL</a:t>
            </a:r>
            <a:br>
              <a:rPr lang="en-US" sz="3200" dirty="0"/>
            </a:br>
            <a:r>
              <a:rPr lang="en-US" sz="3200" dirty="0"/>
              <a:t>        values from the query.</a:t>
            </a:r>
            <a:endParaRPr lang="en-IN" sz="3200" dirty="0"/>
          </a:p>
        </p:txBody>
      </p:sp>
      <p:pic>
        <p:nvPicPr>
          <p:cNvPr id="5" name="Content Placeholder 4">
            <a:extLst>
              <a:ext uri="{FF2B5EF4-FFF2-40B4-BE49-F238E27FC236}">
                <a16:creationId xmlns:a16="http://schemas.microsoft.com/office/drawing/2014/main" id="{3559373C-14CC-932A-8181-84F7DEAC7E0A}"/>
              </a:ext>
            </a:extLst>
          </p:cNvPr>
          <p:cNvPicPr>
            <a:picLocks noGrp="1" noChangeAspect="1"/>
          </p:cNvPicPr>
          <p:nvPr>
            <p:ph idx="1"/>
          </p:nvPr>
        </p:nvPicPr>
        <p:blipFill>
          <a:blip r:embed="rId2"/>
          <a:stretch>
            <a:fillRect/>
          </a:stretch>
        </p:blipFill>
        <p:spPr>
          <a:xfrm>
            <a:off x="3423138" y="1690688"/>
            <a:ext cx="5345723" cy="4545030"/>
          </a:xfrm>
          <a:prstGeom prst="rect">
            <a:avLst/>
          </a:prstGeom>
        </p:spPr>
      </p:pic>
    </p:spTree>
    <p:extLst>
      <p:ext uri="{BB962C8B-B14F-4D97-AF65-F5344CB8AC3E}">
        <p14:creationId xmlns:p14="http://schemas.microsoft.com/office/powerpoint/2010/main" val="23815653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F0FAA-AD41-6BD0-F713-596E2205ADEF}"/>
              </a:ext>
            </a:extLst>
          </p:cNvPr>
          <p:cNvSpPr>
            <a:spLocks noGrp="1"/>
          </p:cNvSpPr>
          <p:nvPr>
            <p:ph type="title"/>
          </p:nvPr>
        </p:nvSpPr>
        <p:spPr/>
        <p:txBody>
          <a:bodyPr>
            <a:normAutofit fontScale="90000"/>
          </a:bodyPr>
          <a:lstStyle/>
          <a:p>
            <a:r>
              <a:rPr lang="en-US" sz="3200" dirty="0"/>
              <a:t>27. Show all patient's </a:t>
            </a:r>
            <a:r>
              <a:rPr lang="en-US" sz="3200" dirty="0" err="1"/>
              <a:t>first_name</a:t>
            </a:r>
            <a:r>
              <a:rPr lang="en-US" sz="3200" dirty="0"/>
              <a:t>, </a:t>
            </a:r>
            <a:r>
              <a:rPr lang="en-US" sz="3200" dirty="0" err="1"/>
              <a:t>last_name</a:t>
            </a:r>
            <a:r>
              <a:rPr lang="en-US" sz="3200" dirty="0"/>
              <a:t>, and </a:t>
            </a:r>
            <a:r>
              <a:rPr lang="en-US" sz="3200" dirty="0" err="1"/>
              <a:t>birth_date</a:t>
            </a:r>
            <a:r>
              <a:rPr lang="en-US" sz="3200" dirty="0"/>
              <a:t> who</a:t>
            </a:r>
            <a:br>
              <a:rPr lang="en-US" sz="3200" dirty="0"/>
            </a:br>
            <a:r>
              <a:rPr lang="en-US" sz="3200" dirty="0"/>
              <a:t>        were born in the 1970s decade. Sort the list starting from the</a:t>
            </a:r>
            <a:br>
              <a:rPr lang="en-US" sz="3200" dirty="0"/>
            </a:br>
            <a:r>
              <a:rPr lang="en-US" sz="3200" dirty="0"/>
              <a:t>       earliest </a:t>
            </a:r>
            <a:r>
              <a:rPr lang="en-US" sz="3200" dirty="0" err="1"/>
              <a:t>birth_date</a:t>
            </a:r>
            <a:r>
              <a:rPr lang="en-US" sz="3200" dirty="0"/>
              <a:t>. </a:t>
            </a:r>
            <a:endParaRPr lang="en-IN" sz="3200" dirty="0"/>
          </a:p>
        </p:txBody>
      </p:sp>
      <p:pic>
        <p:nvPicPr>
          <p:cNvPr id="5" name="Content Placeholder 4">
            <a:extLst>
              <a:ext uri="{FF2B5EF4-FFF2-40B4-BE49-F238E27FC236}">
                <a16:creationId xmlns:a16="http://schemas.microsoft.com/office/drawing/2014/main" id="{7294F147-D474-2E2F-B7B3-DC2B70BB9544}"/>
              </a:ext>
            </a:extLst>
          </p:cNvPr>
          <p:cNvPicPr>
            <a:picLocks noGrp="1" noChangeAspect="1"/>
          </p:cNvPicPr>
          <p:nvPr>
            <p:ph idx="1"/>
          </p:nvPr>
        </p:nvPicPr>
        <p:blipFill>
          <a:blip r:embed="rId2"/>
          <a:stretch>
            <a:fillRect/>
          </a:stretch>
        </p:blipFill>
        <p:spPr>
          <a:xfrm>
            <a:off x="3166905" y="1690688"/>
            <a:ext cx="5858189" cy="4928507"/>
          </a:xfrm>
          <a:prstGeom prst="rect">
            <a:avLst/>
          </a:prstGeom>
        </p:spPr>
      </p:pic>
    </p:spTree>
    <p:extLst>
      <p:ext uri="{BB962C8B-B14F-4D97-AF65-F5344CB8AC3E}">
        <p14:creationId xmlns:p14="http://schemas.microsoft.com/office/powerpoint/2010/main" val="2429513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81814-2F2B-3286-80FE-160B2D010960}"/>
              </a:ext>
            </a:extLst>
          </p:cNvPr>
          <p:cNvSpPr>
            <a:spLocks noGrp="1"/>
          </p:cNvSpPr>
          <p:nvPr>
            <p:ph type="title"/>
          </p:nvPr>
        </p:nvSpPr>
        <p:spPr>
          <a:xfrm>
            <a:off x="838200" y="365125"/>
            <a:ext cx="10515600" cy="1966093"/>
          </a:xfrm>
        </p:spPr>
        <p:txBody>
          <a:bodyPr>
            <a:normAutofit fontScale="90000"/>
          </a:bodyPr>
          <a:lstStyle/>
          <a:p>
            <a:r>
              <a:rPr lang="en-US" sz="3200" dirty="0"/>
              <a:t>28. We want to display each patient's full name in a single column.</a:t>
            </a:r>
            <a:br>
              <a:rPr lang="en-US" sz="3200" dirty="0"/>
            </a:br>
            <a:r>
              <a:rPr lang="en-US" sz="3200" dirty="0"/>
              <a:t>       Their </a:t>
            </a:r>
            <a:r>
              <a:rPr lang="en-US" sz="3200" dirty="0" err="1"/>
              <a:t>last_name</a:t>
            </a:r>
            <a:r>
              <a:rPr lang="en-US" sz="3200" dirty="0"/>
              <a:t> in all upper letters must appear first, then</a:t>
            </a:r>
            <a:br>
              <a:rPr lang="en-US" sz="3200" dirty="0"/>
            </a:br>
            <a:r>
              <a:rPr lang="en-US" sz="3200" dirty="0"/>
              <a:t>       </a:t>
            </a:r>
            <a:r>
              <a:rPr lang="en-US" sz="3200" dirty="0" err="1"/>
              <a:t>first_name</a:t>
            </a:r>
            <a:r>
              <a:rPr lang="en-US" sz="3200" dirty="0"/>
              <a:t> in all lower case letters. Separate the </a:t>
            </a:r>
            <a:r>
              <a:rPr lang="en-US" sz="3200" dirty="0" err="1"/>
              <a:t>last_name</a:t>
            </a:r>
            <a:r>
              <a:rPr lang="en-US" sz="3200" dirty="0"/>
              <a:t> and</a:t>
            </a:r>
            <a:br>
              <a:rPr lang="en-US" sz="3200" dirty="0"/>
            </a:br>
            <a:r>
              <a:rPr lang="en-US" sz="3200" dirty="0"/>
              <a:t>       </a:t>
            </a:r>
            <a:r>
              <a:rPr lang="en-US" sz="3200" dirty="0" err="1"/>
              <a:t>first_name</a:t>
            </a:r>
            <a:r>
              <a:rPr lang="en-US" sz="3200" dirty="0"/>
              <a:t> with a comma. Order the list by the </a:t>
            </a:r>
            <a:r>
              <a:rPr lang="en-US" sz="3200" dirty="0" err="1"/>
              <a:t>first_name</a:t>
            </a:r>
            <a:r>
              <a:rPr lang="en-US" sz="3200" dirty="0"/>
              <a:t> in</a:t>
            </a:r>
            <a:br>
              <a:rPr lang="en-US" sz="3200" dirty="0"/>
            </a:br>
            <a:r>
              <a:rPr lang="en-US" sz="3200" dirty="0"/>
              <a:t>       descending order EX: </a:t>
            </a:r>
            <a:r>
              <a:rPr lang="en-US" sz="3200" dirty="0" err="1"/>
              <a:t>SMITH,jane</a:t>
            </a:r>
            <a:endParaRPr lang="en-IN" sz="3200" dirty="0"/>
          </a:p>
        </p:txBody>
      </p:sp>
      <p:pic>
        <p:nvPicPr>
          <p:cNvPr id="9" name="Content Placeholder 8">
            <a:extLst>
              <a:ext uri="{FF2B5EF4-FFF2-40B4-BE49-F238E27FC236}">
                <a16:creationId xmlns:a16="http://schemas.microsoft.com/office/drawing/2014/main" id="{A23F28C7-7604-3559-98EB-AA6B20F7AC22}"/>
              </a:ext>
            </a:extLst>
          </p:cNvPr>
          <p:cNvPicPr>
            <a:picLocks noGrp="1" noChangeAspect="1"/>
          </p:cNvPicPr>
          <p:nvPr>
            <p:ph idx="1"/>
          </p:nvPr>
        </p:nvPicPr>
        <p:blipFill>
          <a:blip r:embed="rId2"/>
          <a:stretch>
            <a:fillRect/>
          </a:stretch>
        </p:blipFill>
        <p:spPr>
          <a:xfrm>
            <a:off x="4083897" y="2808219"/>
            <a:ext cx="4024206" cy="2848373"/>
          </a:xfrm>
          <a:prstGeom prst="rect">
            <a:avLst/>
          </a:prstGeom>
        </p:spPr>
      </p:pic>
    </p:spTree>
    <p:extLst>
      <p:ext uri="{BB962C8B-B14F-4D97-AF65-F5344CB8AC3E}">
        <p14:creationId xmlns:p14="http://schemas.microsoft.com/office/powerpoint/2010/main" val="7016112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76079-E558-5C2E-81ED-C25B67A4BCFD}"/>
              </a:ext>
            </a:extLst>
          </p:cNvPr>
          <p:cNvSpPr>
            <a:spLocks noGrp="1"/>
          </p:cNvSpPr>
          <p:nvPr>
            <p:ph type="title"/>
          </p:nvPr>
        </p:nvSpPr>
        <p:spPr/>
        <p:txBody>
          <a:bodyPr>
            <a:normAutofit/>
          </a:bodyPr>
          <a:lstStyle/>
          <a:p>
            <a:r>
              <a:rPr lang="en-US" sz="3200" dirty="0"/>
              <a:t>29. Show the </a:t>
            </a:r>
            <a:r>
              <a:rPr lang="en-US" sz="3200" dirty="0" err="1"/>
              <a:t>province_id</a:t>
            </a:r>
            <a:r>
              <a:rPr lang="en-US" sz="3200" dirty="0"/>
              <a:t>(s), sum of height; where the total</a:t>
            </a:r>
            <a:br>
              <a:rPr lang="en-US" sz="3200" dirty="0"/>
            </a:br>
            <a:r>
              <a:rPr lang="en-US" sz="3200" dirty="0"/>
              <a:t>       sum of its patient's height is greater than or equal to 7,000. </a:t>
            </a:r>
            <a:endParaRPr lang="en-IN" sz="3200" dirty="0"/>
          </a:p>
        </p:txBody>
      </p:sp>
      <p:pic>
        <p:nvPicPr>
          <p:cNvPr id="5" name="Content Placeholder 4">
            <a:extLst>
              <a:ext uri="{FF2B5EF4-FFF2-40B4-BE49-F238E27FC236}">
                <a16:creationId xmlns:a16="http://schemas.microsoft.com/office/drawing/2014/main" id="{0E12A24A-1160-71A2-9FB2-36F2C331D429}"/>
              </a:ext>
            </a:extLst>
          </p:cNvPr>
          <p:cNvPicPr>
            <a:picLocks noGrp="1" noChangeAspect="1"/>
          </p:cNvPicPr>
          <p:nvPr>
            <p:ph idx="1"/>
          </p:nvPr>
        </p:nvPicPr>
        <p:blipFill>
          <a:blip r:embed="rId2"/>
          <a:stretch>
            <a:fillRect/>
          </a:stretch>
        </p:blipFill>
        <p:spPr>
          <a:xfrm>
            <a:off x="3947754" y="2765139"/>
            <a:ext cx="4296492" cy="2225409"/>
          </a:xfrm>
          <a:prstGeom prst="rect">
            <a:avLst/>
          </a:prstGeom>
        </p:spPr>
      </p:pic>
    </p:spTree>
    <p:extLst>
      <p:ext uri="{BB962C8B-B14F-4D97-AF65-F5344CB8AC3E}">
        <p14:creationId xmlns:p14="http://schemas.microsoft.com/office/powerpoint/2010/main" val="22487385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98BE9-0072-B7D0-6252-060C174E6A95}"/>
              </a:ext>
            </a:extLst>
          </p:cNvPr>
          <p:cNvSpPr>
            <a:spLocks noGrp="1"/>
          </p:cNvSpPr>
          <p:nvPr>
            <p:ph type="title"/>
          </p:nvPr>
        </p:nvSpPr>
        <p:spPr/>
        <p:txBody>
          <a:bodyPr>
            <a:normAutofit/>
          </a:bodyPr>
          <a:lstStyle/>
          <a:p>
            <a:r>
              <a:rPr lang="en-US" sz="3200" dirty="0"/>
              <a:t>30. Show the difference between the largest weight and</a:t>
            </a:r>
            <a:br>
              <a:rPr lang="en-US" sz="3200" dirty="0"/>
            </a:br>
            <a:r>
              <a:rPr lang="en-US" sz="3200" dirty="0"/>
              <a:t>        smallest weight for patients with the last name 'Maroni' </a:t>
            </a:r>
            <a:endParaRPr lang="en-IN" sz="3200" dirty="0"/>
          </a:p>
        </p:txBody>
      </p:sp>
      <p:pic>
        <p:nvPicPr>
          <p:cNvPr id="5" name="Content Placeholder 4">
            <a:extLst>
              <a:ext uri="{FF2B5EF4-FFF2-40B4-BE49-F238E27FC236}">
                <a16:creationId xmlns:a16="http://schemas.microsoft.com/office/drawing/2014/main" id="{A35D500E-55E0-CCEF-C67D-B4827FF5B2FC}"/>
              </a:ext>
            </a:extLst>
          </p:cNvPr>
          <p:cNvPicPr>
            <a:picLocks noGrp="1" noChangeAspect="1"/>
          </p:cNvPicPr>
          <p:nvPr>
            <p:ph idx="1"/>
          </p:nvPr>
        </p:nvPicPr>
        <p:blipFill>
          <a:blip r:embed="rId2"/>
          <a:stretch>
            <a:fillRect/>
          </a:stretch>
        </p:blipFill>
        <p:spPr>
          <a:xfrm>
            <a:off x="4362659" y="2338754"/>
            <a:ext cx="3466682" cy="2180492"/>
          </a:xfrm>
          <a:prstGeom prst="rect">
            <a:avLst/>
          </a:prstGeom>
        </p:spPr>
      </p:pic>
    </p:spTree>
    <p:extLst>
      <p:ext uri="{BB962C8B-B14F-4D97-AF65-F5344CB8AC3E}">
        <p14:creationId xmlns:p14="http://schemas.microsoft.com/office/powerpoint/2010/main" val="22604319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4A4F-92C6-F7C4-2BE1-817842739E03}"/>
              </a:ext>
            </a:extLst>
          </p:cNvPr>
          <p:cNvSpPr>
            <a:spLocks noGrp="1"/>
          </p:cNvSpPr>
          <p:nvPr>
            <p:ph type="title"/>
          </p:nvPr>
        </p:nvSpPr>
        <p:spPr/>
        <p:txBody>
          <a:bodyPr>
            <a:normAutofit fontScale="90000"/>
          </a:bodyPr>
          <a:lstStyle/>
          <a:p>
            <a:r>
              <a:rPr lang="en-US" sz="3200" dirty="0"/>
              <a:t>31. Show all of the days of the month (1-31) and how many  </a:t>
            </a:r>
            <a:br>
              <a:rPr lang="en-US" sz="3200" dirty="0"/>
            </a:br>
            <a:r>
              <a:rPr lang="en-US" sz="3200" dirty="0"/>
              <a:t>       </a:t>
            </a:r>
            <a:r>
              <a:rPr lang="en-US" sz="3200" dirty="0" err="1"/>
              <a:t>admission_dates</a:t>
            </a:r>
            <a:r>
              <a:rPr lang="en-US" sz="3200" dirty="0"/>
              <a:t> occurred on that day. Sort by the day with most</a:t>
            </a:r>
            <a:br>
              <a:rPr lang="en-US" sz="3200" dirty="0"/>
            </a:br>
            <a:r>
              <a:rPr lang="en-US" sz="3200" dirty="0"/>
              <a:t>       admissions to least admissions. </a:t>
            </a:r>
            <a:endParaRPr lang="en-IN" sz="3200" dirty="0"/>
          </a:p>
        </p:txBody>
      </p:sp>
      <p:pic>
        <p:nvPicPr>
          <p:cNvPr id="5" name="Content Placeholder 4">
            <a:extLst>
              <a:ext uri="{FF2B5EF4-FFF2-40B4-BE49-F238E27FC236}">
                <a16:creationId xmlns:a16="http://schemas.microsoft.com/office/drawing/2014/main" id="{BEA24433-9642-8569-C94F-99A181BB709E}"/>
              </a:ext>
            </a:extLst>
          </p:cNvPr>
          <p:cNvPicPr>
            <a:picLocks noGrp="1" noChangeAspect="1"/>
          </p:cNvPicPr>
          <p:nvPr>
            <p:ph idx="1"/>
          </p:nvPr>
        </p:nvPicPr>
        <p:blipFill>
          <a:blip r:embed="rId2"/>
          <a:stretch>
            <a:fillRect/>
          </a:stretch>
        </p:blipFill>
        <p:spPr>
          <a:xfrm>
            <a:off x="3697793" y="1825625"/>
            <a:ext cx="4189227" cy="4351338"/>
          </a:xfrm>
          <a:prstGeom prst="rect">
            <a:avLst/>
          </a:prstGeom>
        </p:spPr>
      </p:pic>
    </p:spTree>
    <p:extLst>
      <p:ext uri="{BB962C8B-B14F-4D97-AF65-F5344CB8AC3E}">
        <p14:creationId xmlns:p14="http://schemas.microsoft.com/office/powerpoint/2010/main" val="31544018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45FDD-DE04-5C92-EAF4-595FAE00DAC0}"/>
              </a:ext>
            </a:extLst>
          </p:cNvPr>
          <p:cNvSpPr>
            <a:spLocks noGrp="1"/>
          </p:cNvSpPr>
          <p:nvPr>
            <p:ph type="title"/>
          </p:nvPr>
        </p:nvSpPr>
        <p:spPr/>
        <p:txBody>
          <a:bodyPr>
            <a:normAutofit fontScale="90000"/>
          </a:bodyPr>
          <a:lstStyle/>
          <a:p>
            <a:r>
              <a:rPr lang="en-US" sz="3200" dirty="0"/>
              <a:t>32. Show all of the patients grouped into weight groups. Show the</a:t>
            </a:r>
            <a:br>
              <a:rPr lang="en-US" sz="3200" dirty="0"/>
            </a:br>
            <a:r>
              <a:rPr lang="en-US" sz="3200" dirty="0"/>
              <a:t>       total number of patients in each weight group. Order the list by the</a:t>
            </a:r>
            <a:br>
              <a:rPr lang="en-US" sz="3200" dirty="0"/>
            </a:br>
            <a:r>
              <a:rPr lang="en-US" sz="3200" dirty="0"/>
              <a:t>       weight group descending. e.g. if they weigh 100 to 109 they are</a:t>
            </a:r>
            <a:br>
              <a:rPr lang="en-US" sz="3200" dirty="0"/>
            </a:br>
            <a:r>
              <a:rPr lang="en-US" sz="3200" dirty="0"/>
              <a:t>       placed in the 100 weight group, 110-119 = 110 weight group, etc.</a:t>
            </a:r>
            <a:endParaRPr lang="en-IN" sz="3200" dirty="0"/>
          </a:p>
        </p:txBody>
      </p:sp>
      <p:pic>
        <p:nvPicPr>
          <p:cNvPr id="5" name="Content Placeholder 4">
            <a:extLst>
              <a:ext uri="{FF2B5EF4-FFF2-40B4-BE49-F238E27FC236}">
                <a16:creationId xmlns:a16="http://schemas.microsoft.com/office/drawing/2014/main" id="{4A568561-3DD3-A745-4E46-D214F056F5C9}"/>
              </a:ext>
            </a:extLst>
          </p:cNvPr>
          <p:cNvPicPr>
            <a:picLocks noGrp="1" noChangeAspect="1"/>
          </p:cNvPicPr>
          <p:nvPr>
            <p:ph idx="1"/>
          </p:nvPr>
        </p:nvPicPr>
        <p:blipFill>
          <a:blip r:embed="rId2"/>
          <a:stretch>
            <a:fillRect/>
          </a:stretch>
        </p:blipFill>
        <p:spPr>
          <a:xfrm>
            <a:off x="4171681" y="1957896"/>
            <a:ext cx="3848637" cy="4086795"/>
          </a:xfrm>
          <a:prstGeom prst="rect">
            <a:avLst/>
          </a:prstGeom>
        </p:spPr>
      </p:pic>
    </p:spTree>
    <p:extLst>
      <p:ext uri="{BB962C8B-B14F-4D97-AF65-F5344CB8AC3E}">
        <p14:creationId xmlns:p14="http://schemas.microsoft.com/office/powerpoint/2010/main" val="5908212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9CA32-3172-22E9-04D1-E84B81905732}"/>
              </a:ext>
            </a:extLst>
          </p:cNvPr>
          <p:cNvSpPr>
            <a:spLocks noGrp="1"/>
          </p:cNvSpPr>
          <p:nvPr>
            <p:ph type="title"/>
          </p:nvPr>
        </p:nvSpPr>
        <p:spPr/>
        <p:txBody>
          <a:bodyPr>
            <a:normAutofit fontScale="90000"/>
          </a:bodyPr>
          <a:lstStyle/>
          <a:p>
            <a:r>
              <a:rPr lang="en-US" sz="3200" dirty="0"/>
              <a:t>33. Show </a:t>
            </a:r>
            <a:r>
              <a:rPr lang="en-US" sz="3200" dirty="0" err="1"/>
              <a:t>patient_id</a:t>
            </a:r>
            <a:r>
              <a:rPr lang="en-US" sz="3200" dirty="0"/>
              <a:t>, weight, height, </a:t>
            </a:r>
            <a:r>
              <a:rPr lang="en-US" sz="3200" dirty="0" err="1"/>
              <a:t>isObese</a:t>
            </a:r>
            <a:r>
              <a:rPr lang="en-US" sz="3200" dirty="0"/>
              <a:t> from the patients table.</a:t>
            </a:r>
            <a:br>
              <a:rPr lang="en-US" sz="3200" dirty="0"/>
            </a:br>
            <a:r>
              <a:rPr lang="en-US" sz="3200" dirty="0"/>
              <a:t>        Display </a:t>
            </a:r>
            <a:r>
              <a:rPr lang="en-US" sz="3200" dirty="0" err="1"/>
              <a:t>isObese</a:t>
            </a:r>
            <a:r>
              <a:rPr lang="en-US" sz="3200" dirty="0"/>
              <a:t> as a </a:t>
            </a:r>
            <a:r>
              <a:rPr lang="en-US" sz="3200" dirty="0" err="1"/>
              <a:t>boolean</a:t>
            </a:r>
            <a:r>
              <a:rPr lang="en-US" sz="3200" dirty="0"/>
              <a:t> 0 or 1. Obese is defined as</a:t>
            </a:r>
            <a:br>
              <a:rPr lang="en-US" sz="3200" dirty="0"/>
            </a:br>
            <a:r>
              <a:rPr lang="en-US" sz="3200" dirty="0"/>
              <a:t>        weight(kg)/(height(m). Weight is in units kg. Height is in units cm. </a:t>
            </a:r>
            <a:endParaRPr lang="en-IN" sz="3200" dirty="0"/>
          </a:p>
        </p:txBody>
      </p:sp>
      <p:pic>
        <p:nvPicPr>
          <p:cNvPr id="5" name="Content Placeholder 4">
            <a:extLst>
              <a:ext uri="{FF2B5EF4-FFF2-40B4-BE49-F238E27FC236}">
                <a16:creationId xmlns:a16="http://schemas.microsoft.com/office/drawing/2014/main" id="{8F5543DA-3209-193C-E819-D8A47CB7E8B5}"/>
              </a:ext>
            </a:extLst>
          </p:cNvPr>
          <p:cNvPicPr>
            <a:picLocks noGrp="1" noChangeAspect="1"/>
          </p:cNvPicPr>
          <p:nvPr>
            <p:ph idx="1"/>
          </p:nvPr>
        </p:nvPicPr>
        <p:blipFill>
          <a:blip r:embed="rId2"/>
          <a:stretch>
            <a:fillRect/>
          </a:stretch>
        </p:blipFill>
        <p:spPr>
          <a:xfrm>
            <a:off x="4071682" y="1825625"/>
            <a:ext cx="4048636" cy="4351338"/>
          </a:xfrm>
          <a:prstGeom prst="rect">
            <a:avLst/>
          </a:prstGeom>
        </p:spPr>
      </p:pic>
    </p:spTree>
    <p:extLst>
      <p:ext uri="{BB962C8B-B14F-4D97-AF65-F5344CB8AC3E}">
        <p14:creationId xmlns:p14="http://schemas.microsoft.com/office/powerpoint/2010/main" val="3341405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B5B0C-90A6-B1E3-BCC5-D5CF5F221610}"/>
              </a:ext>
            </a:extLst>
          </p:cNvPr>
          <p:cNvSpPr>
            <a:spLocks noGrp="1"/>
          </p:cNvSpPr>
          <p:nvPr>
            <p:ph type="title"/>
          </p:nvPr>
        </p:nvSpPr>
        <p:spPr>
          <a:xfrm>
            <a:off x="838200" y="365125"/>
            <a:ext cx="10515600" cy="1865609"/>
          </a:xfrm>
        </p:spPr>
        <p:txBody>
          <a:bodyPr>
            <a:normAutofit fontScale="90000"/>
          </a:bodyPr>
          <a:lstStyle/>
          <a:p>
            <a:r>
              <a:rPr lang="en-US" sz="3200" dirty="0"/>
              <a:t>34. Show </a:t>
            </a:r>
            <a:r>
              <a:rPr lang="en-US" sz="3200" dirty="0" err="1"/>
              <a:t>patient_id</a:t>
            </a:r>
            <a:r>
              <a:rPr lang="en-US" sz="3200" dirty="0"/>
              <a:t>, </a:t>
            </a:r>
            <a:r>
              <a:rPr lang="en-US" sz="3200" dirty="0" err="1"/>
              <a:t>first_name</a:t>
            </a:r>
            <a:r>
              <a:rPr lang="en-US" sz="3200" dirty="0"/>
              <a:t>, </a:t>
            </a:r>
            <a:r>
              <a:rPr lang="en-US" sz="3200" dirty="0" err="1"/>
              <a:t>last_name</a:t>
            </a:r>
            <a:r>
              <a:rPr lang="en-US" sz="3200" dirty="0"/>
              <a:t>, and attending doctor’s</a:t>
            </a:r>
            <a:br>
              <a:rPr lang="en-US" sz="3200" dirty="0"/>
            </a:br>
            <a:r>
              <a:rPr lang="en-US" sz="3200" dirty="0"/>
              <a:t>       specialty. Show only the patients who has a diagnosis as 'Epilepsy’</a:t>
            </a:r>
            <a:br>
              <a:rPr lang="en-US" sz="3200" dirty="0"/>
            </a:br>
            <a:r>
              <a:rPr lang="en-US" sz="3200" dirty="0"/>
              <a:t>      and the doctor's first name is 'Lisa'. Check patients, admissions,</a:t>
            </a:r>
            <a:br>
              <a:rPr lang="en-US" sz="3200" dirty="0"/>
            </a:br>
            <a:r>
              <a:rPr lang="en-US" sz="3200" dirty="0"/>
              <a:t>      and doctors tables for required information. </a:t>
            </a:r>
            <a:endParaRPr lang="en-IN" sz="3200" dirty="0"/>
          </a:p>
        </p:txBody>
      </p:sp>
      <p:pic>
        <p:nvPicPr>
          <p:cNvPr id="5" name="Content Placeholder 4">
            <a:extLst>
              <a:ext uri="{FF2B5EF4-FFF2-40B4-BE49-F238E27FC236}">
                <a16:creationId xmlns:a16="http://schemas.microsoft.com/office/drawing/2014/main" id="{5F8588C0-94B1-FA34-196A-FE446D1FB348}"/>
              </a:ext>
            </a:extLst>
          </p:cNvPr>
          <p:cNvPicPr>
            <a:picLocks noGrp="1" noChangeAspect="1"/>
          </p:cNvPicPr>
          <p:nvPr>
            <p:ph idx="1"/>
          </p:nvPr>
        </p:nvPicPr>
        <p:blipFill>
          <a:blip r:embed="rId2"/>
          <a:stretch>
            <a:fillRect/>
          </a:stretch>
        </p:blipFill>
        <p:spPr>
          <a:xfrm>
            <a:off x="2223547" y="3372556"/>
            <a:ext cx="7744906" cy="1257475"/>
          </a:xfrm>
          <a:prstGeom prst="rect">
            <a:avLst/>
          </a:prstGeom>
        </p:spPr>
      </p:pic>
    </p:spTree>
    <p:extLst>
      <p:ext uri="{BB962C8B-B14F-4D97-AF65-F5344CB8AC3E}">
        <p14:creationId xmlns:p14="http://schemas.microsoft.com/office/powerpoint/2010/main" val="4700971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044AE-7BE5-B894-68F7-27264D1464A6}"/>
              </a:ext>
            </a:extLst>
          </p:cNvPr>
          <p:cNvSpPr>
            <a:spLocks noGrp="1"/>
          </p:cNvSpPr>
          <p:nvPr>
            <p:ph type="title"/>
          </p:nvPr>
        </p:nvSpPr>
        <p:spPr>
          <a:xfrm>
            <a:off x="838200" y="365125"/>
            <a:ext cx="10515600" cy="2538849"/>
          </a:xfrm>
        </p:spPr>
        <p:txBody>
          <a:bodyPr>
            <a:normAutofit fontScale="90000"/>
          </a:bodyPr>
          <a:lstStyle/>
          <a:p>
            <a:r>
              <a:rPr lang="en-US" sz="3200" dirty="0"/>
              <a:t>35. All patients who have gone through admissions, can see their medical documents on our site. Those patients are given a temporary password after their first admission. Show the </a:t>
            </a:r>
            <a:r>
              <a:rPr lang="en-US" sz="3200" dirty="0" err="1"/>
              <a:t>patient_id</a:t>
            </a:r>
            <a:r>
              <a:rPr lang="en-US" sz="3200" dirty="0"/>
              <a:t> and </a:t>
            </a:r>
            <a:r>
              <a:rPr lang="en-US" sz="3200" dirty="0" err="1"/>
              <a:t>temp_password</a:t>
            </a:r>
            <a:r>
              <a:rPr lang="en-US" sz="3200" dirty="0"/>
              <a:t>. The password must be the following, in order: - </a:t>
            </a:r>
            <a:r>
              <a:rPr lang="en-US" sz="3200" dirty="0" err="1"/>
              <a:t>patient_id</a:t>
            </a:r>
            <a:r>
              <a:rPr lang="en-US" sz="3200" dirty="0"/>
              <a:t> - the numerical length of patient's </a:t>
            </a:r>
            <a:r>
              <a:rPr lang="en-US" sz="3200" dirty="0" err="1"/>
              <a:t>last_name</a:t>
            </a:r>
            <a:r>
              <a:rPr lang="en-US" sz="3200" dirty="0"/>
              <a:t> - year of patient's </a:t>
            </a:r>
            <a:r>
              <a:rPr lang="en-US" sz="3200" dirty="0" err="1"/>
              <a:t>birth_date</a:t>
            </a:r>
            <a:r>
              <a:rPr lang="en-US" sz="3200" dirty="0"/>
              <a:t> </a:t>
            </a:r>
            <a:endParaRPr lang="en-IN" sz="3200" dirty="0"/>
          </a:p>
        </p:txBody>
      </p:sp>
      <p:pic>
        <p:nvPicPr>
          <p:cNvPr id="5" name="Content Placeholder 4">
            <a:extLst>
              <a:ext uri="{FF2B5EF4-FFF2-40B4-BE49-F238E27FC236}">
                <a16:creationId xmlns:a16="http://schemas.microsoft.com/office/drawing/2014/main" id="{935E6DD8-84C5-F11F-F17E-B1325D49D216}"/>
              </a:ext>
            </a:extLst>
          </p:cNvPr>
          <p:cNvPicPr>
            <a:picLocks noGrp="1" noChangeAspect="1"/>
          </p:cNvPicPr>
          <p:nvPr>
            <p:ph idx="1"/>
          </p:nvPr>
        </p:nvPicPr>
        <p:blipFill>
          <a:blip r:embed="rId2"/>
          <a:stretch>
            <a:fillRect/>
          </a:stretch>
        </p:blipFill>
        <p:spPr>
          <a:xfrm>
            <a:off x="4734078" y="2984500"/>
            <a:ext cx="2723844" cy="3192463"/>
          </a:xfrm>
          <a:prstGeom prst="rect">
            <a:avLst/>
          </a:prstGeom>
        </p:spPr>
      </p:pic>
    </p:spTree>
    <p:extLst>
      <p:ext uri="{BB962C8B-B14F-4D97-AF65-F5344CB8AC3E}">
        <p14:creationId xmlns:p14="http://schemas.microsoft.com/office/powerpoint/2010/main" val="1834407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283</TotalTime>
  <Words>1147</Words>
  <Application>Microsoft Office PowerPoint</Application>
  <PresentationFormat>Widescreen</PresentationFormat>
  <Paragraphs>38</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Aptos</vt:lpstr>
      <vt:lpstr>Aptos Display</vt:lpstr>
      <vt:lpstr>Arial</vt:lpstr>
      <vt:lpstr>Office Theme</vt:lpstr>
      <vt:lpstr>PRCE-001  Medical Data History</vt:lpstr>
      <vt:lpstr>1. Show first name, last name, and gender of patients whose       gender is 'M'</vt:lpstr>
      <vt:lpstr>2. Show first name and last name of patients who do not have      allergies. </vt:lpstr>
      <vt:lpstr>3. Show first name of patients that start with the letter 'C'</vt:lpstr>
      <vt:lpstr>4. Show first name and last name of patients that weight within         the range of 100 to 120 (inclusive) </vt:lpstr>
      <vt:lpstr>5. Update the patients table for the allergies column. If the       patient's allergies is null then replace it with 'NKA'</vt:lpstr>
      <vt:lpstr>6. Show first name and last name concatenated into one      column to show their full name.</vt:lpstr>
      <vt:lpstr>7. Show first name, last name, and the full province name of      each patient.</vt:lpstr>
      <vt:lpstr>8. Show how many patients have a birth_date with 2010 as the      birth year.</vt:lpstr>
      <vt:lpstr>9. Show the first_name, last_name, and height of the patient      with the greatest height.</vt:lpstr>
      <vt:lpstr>10. Show all columns for patients who have one of the          following patient_ids: 1,45,534,879,1000 </vt:lpstr>
      <vt:lpstr>11. Show the total number of admissions.</vt:lpstr>
      <vt:lpstr>12. Show all the columns from admissions where the patient         was admitted and discharged on the same day</vt:lpstr>
      <vt:lpstr>13. Show the total number of admissions for patient_id 579.</vt:lpstr>
      <vt:lpstr>14. Based on the cities that our patients live in, show unique        cities that are in province_id 'NS'? </vt:lpstr>
      <vt:lpstr>15. Write a query to find the first_name, last name and birth date of         patients who have height more than 160 and weight more than 70.</vt:lpstr>
      <vt:lpstr>16. Show unique birth years from patients and order them by         ascending</vt:lpstr>
      <vt:lpstr>17. Show unique first names from the patients table which only occurs        once in the list. For example, if two or more people are named 'John’          in the first_name column then don't include their name in the output        list. If only 1 person is named 'Leo' then include them in the output.       Tip: HAVING clause was added to SQL because the WHERE keyword       cannot be used with aggregate functions. </vt:lpstr>
      <vt:lpstr>18. Show patient_id and first_name from patients where their       first_name starts and ends with 's' and is at least 6 characters long. </vt:lpstr>
      <vt:lpstr>19. Show patient_id, first_name, last_name from patients whose        diagnosis is 'Dementia'. Primary diagnosis is stored in the        admissions table. </vt:lpstr>
      <vt:lpstr>20. Display every patient's first_name. Order the list by the        length of each name and then by alphabetically.</vt:lpstr>
      <vt:lpstr>21. Show the total number of male patients and the total number of        female patients in the patients table. Display the two results in the        same row. </vt:lpstr>
      <vt:lpstr>22. Show the total number of male patients and the total number of        female patients in the patients table. Display the two results in the       same row. </vt:lpstr>
      <vt:lpstr>23. Show patient_id, diagnosis from admissions. Find patients        admitted multiple times for the same diagnosis. </vt:lpstr>
      <vt:lpstr>24. Show the city and the total number of patients in the city. Order        from most to least patients and then by city name ascending.</vt:lpstr>
      <vt:lpstr>25. Show first name, last name and role of every person that is either        patient or doctor. The roles are either "Patient" or "Doctor"</vt:lpstr>
      <vt:lpstr>26. Show all allergies ordered by popularity. Remove NULL         values from the query.</vt:lpstr>
      <vt:lpstr>27. Show all patient's first_name, last_name, and birth_date who         were born in the 1970s decade. Sort the list starting from the        earliest birth_date. </vt:lpstr>
      <vt:lpstr>28. We want to display each patient's full name in a single column.        Their last_name in all upper letters must appear first, then        first_name in all lower case letters. Separate the last_name and        first_name with a comma. Order the list by the first_name in        descending order EX: SMITH,jane</vt:lpstr>
      <vt:lpstr>29. Show the province_id(s), sum of height; where the total        sum of its patient's height is greater than or equal to 7,000. </vt:lpstr>
      <vt:lpstr>30. Show the difference between the largest weight and         smallest weight for patients with the last name 'Maroni' </vt:lpstr>
      <vt:lpstr>31. Show all of the days of the month (1-31) and how many          admission_dates occurred on that day. Sort by the day with most        admissions to least admissions. </vt:lpstr>
      <vt:lpstr>32. Show all of the patients grouped into weight groups. Show the        total number of patients in each weight group. Order the list by the        weight group descending. e.g. if they weigh 100 to 109 they are        placed in the 100 weight group, 110-119 = 110 weight group, etc.</vt:lpstr>
      <vt:lpstr>33. Show patient_id, weight, height, isObese from the patients table.         Display isObese as a boolean 0 or 1. Obese is defined as         weight(kg)/(height(m). Weight is in units kg. Height is in units cm. </vt:lpstr>
      <vt:lpstr>34. Show patient_id, first_name, last_name, and attending doctor’s        specialty. Show only the patients who has a diagnosis as 'Epilepsy’       and the doctor's first name is 'Lisa'. Check patients, admissions,       and doctors tables for required information. </vt:lpstr>
      <vt:lpstr>35. All patients who have gone through admissions, can see their medical documents on our site. Those patients are given a temporary password after their first admission. Show the patient_id and temp_password. The password must be the following, in order: - patient_id - the numerical length of patient's last_name - year of patient's birth_date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Anil chowdary</dc:creator>
  <cp:lastModifiedBy>Anil chowdary</cp:lastModifiedBy>
  <cp:revision>1</cp:revision>
  <dcterms:created xsi:type="dcterms:W3CDTF">2025-10-22T05:43:11Z</dcterms:created>
  <dcterms:modified xsi:type="dcterms:W3CDTF">2025-10-22T10:26:48Z</dcterms:modified>
</cp:coreProperties>
</file>